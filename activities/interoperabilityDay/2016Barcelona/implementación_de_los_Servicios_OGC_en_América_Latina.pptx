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2" r:id="rId1"/>
  </p:sldMasterIdLst>
  <p:notesMasterIdLst>
    <p:notesMasterId r:id="rId19"/>
  </p:notesMasterIdLst>
  <p:handoutMasterIdLst>
    <p:handoutMasterId r:id="rId20"/>
  </p:handoutMasterIdLst>
  <p:sldIdLst>
    <p:sldId id="256" r:id="rId2"/>
    <p:sldId id="343" r:id="rId3"/>
    <p:sldId id="357" r:id="rId4"/>
    <p:sldId id="358" r:id="rId5"/>
    <p:sldId id="359" r:id="rId6"/>
    <p:sldId id="356" r:id="rId7"/>
    <p:sldId id="344" r:id="rId8"/>
    <p:sldId id="346" r:id="rId9"/>
    <p:sldId id="345" r:id="rId10"/>
    <p:sldId id="352" r:id="rId11"/>
    <p:sldId id="347" r:id="rId12"/>
    <p:sldId id="348" r:id="rId13"/>
    <p:sldId id="349" r:id="rId14"/>
    <p:sldId id="351" r:id="rId15"/>
    <p:sldId id="354" r:id="rId16"/>
    <p:sldId id="355" r:id="rId17"/>
    <p:sldId id="342" r:id="rId18"/>
  </p:sldIdLst>
  <p:sldSz cx="9144000" cy="6858000" type="screen4x3"/>
  <p:notesSz cx="6858000" cy="9144000"/>
  <p:custDataLst>
    <p:tags r:id="rId21"/>
  </p:custDataLst>
  <p:defaultTextStyle>
    <a:defPPr>
      <a:defRPr lang="en-US"/>
    </a:defPPr>
    <a:lvl1pPr algn="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B230"/>
    <a:srgbClr val="568424"/>
    <a:srgbClr val="745800"/>
    <a:srgbClr val="FF33CC"/>
    <a:srgbClr val="FF19FF"/>
    <a:srgbClr val="76B531"/>
    <a:srgbClr val="000000"/>
    <a:srgbClr val="FFFFCC"/>
    <a:srgbClr val="FFCCFF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62" autoAdjust="0"/>
    <p:restoredTop sz="94646" autoAdjust="0"/>
  </p:normalViewPr>
  <p:slideViewPr>
    <p:cSldViewPr snapToGrid="0">
      <p:cViewPr varScale="1">
        <p:scale>
          <a:sx n="104" d="100"/>
          <a:sy n="104" d="100"/>
        </p:scale>
        <p:origin x="156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-2490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G:\curso%20IDE\comparativa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G:\curso%20IDE\comparativa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G:\curso%20IDE\comparativa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G:\curso%20IDE\comparativa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cnig028\Desktop\comparativa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cnig028\Desktop\comparativa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cnig028\Desktop\comparativ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WMS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cat>
            <c:strRef>
              <c:f>Hoja1!$A$2:$A$11</c:f>
              <c:strCache>
                <c:ptCount val="10"/>
                <c:pt idx="0">
                  <c:v>Argentina</c:v>
                </c:pt>
                <c:pt idx="1">
                  <c:v>Chile</c:v>
                </c:pt>
                <c:pt idx="2">
                  <c:v>Brasil</c:v>
                </c:pt>
                <c:pt idx="3">
                  <c:v>Urugay</c:v>
                </c:pt>
                <c:pt idx="4">
                  <c:v>Perú</c:v>
                </c:pt>
                <c:pt idx="5">
                  <c:v>Ecuador</c:v>
                </c:pt>
                <c:pt idx="6">
                  <c:v>Bolivia</c:v>
                </c:pt>
                <c:pt idx="7">
                  <c:v>Venezuela</c:v>
                </c:pt>
                <c:pt idx="8">
                  <c:v>Colombia</c:v>
                </c:pt>
                <c:pt idx="9">
                  <c:v>Mexico </c:v>
                </c:pt>
              </c:strCache>
            </c:strRef>
          </c:cat>
          <c:val>
            <c:numRef>
              <c:f>Hoja1!$B$2:$B$11</c:f>
              <c:numCache>
                <c:formatCode>General</c:formatCode>
                <c:ptCount val="10"/>
                <c:pt idx="0">
                  <c:v>11</c:v>
                </c:pt>
                <c:pt idx="1">
                  <c:v>62</c:v>
                </c:pt>
                <c:pt idx="2">
                  <c:v>4</c:v>
                </c:pt>
                <c:pt idx="3">
                  <c:v>146</c:v>
                </c:pt>
                <c:pt idx="4">
                  <c:v>82</c:v>
                </c:pt>
                <c:pt idx="5">
                  <c:v>8</c:v>
                </c:pt>
                <c:pt idx="6">
                  <c:v>1</c:v>
                </c:pt>
                <c:pt idx="7">
                  <c:v>3</c:v>
                </c:pt>
                <c:pt idx="8">
                  <c:v>15</c:v>
                </c:pt>
                <c:pt idx="9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8C-4145-9E7D-2DBE8BCE24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430080"/>
        <c:axId val="47102592"/>
      </c:barChart>
      <c:catAx>
        <c:axId val="4643008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47102592"/>
        <c:crosses val="autoZero"/>
        <c:auto val="1"/>
        <c:lblAlgn val="ctr"/>
        <c:lblOffset val="100"/>
        <c:noMultiLvlLbl val="0"/>
      </c:catAx>
      <c:valAx>
        <c:axId val="471025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6430080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Hoja1!$C$1</c:f>
              <c:strCache>
                <c:ptCount val="1"/>
                <c:pt idx="0">
                  <c:v>WFS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Hoja1!$A$2:$A$11</c:f>
              <c:strCache>
                <c:ptCount val="10"/>
                <c:pt idx="0">
                  <c:v>Argentina</c:v>
                </c:pt>
                <c:pt idx="1">
                  <c:v>Chile</c:v>
                </c:pt>
                <c:pt idx="2">
                  <c:v>Brasil</c:v>
                </c:pt>
                <c:pt idx="3">
                  <c:v>Urugay</c:v>
                </c:pt>
                <c:pt idx="4">
                  <c:v>Perú</c:v>
                </c:pt>
                <c:pt idx="5">
                  <c:v>Ecuador</c:v>
                </c:pt>
                <c:pt idx="6">
                  <c:v>Bolivia</c:v>
                </c:pt>
                <c:pt idx="7">
                  <c:v>Venezuela</c:v>
                </c:pt>
                <c:pt idx="8">
                  <c:v>Colombia</c:v>
                </c:pt>
                <c:pt idx="9">
                  <c:v>Mexico </c:v>
                </c:pt>
              </c:strCache>
            </c:strRef>
          </c:cat>
          <c:val>
            <c:numRef>
              <c:f>Hoja1!$C$2:$C$11</c:f>
              <c:numCache>
                <c:formatCode>General</c:formatCode>
                <c:ptCount val="10"/>
                <c:pt idx="0">
                  <c:v>9</c:v>
                </c:pt>
                <c:pt idx="1">
                  <c:v>5</c:v>
                </c:pt>
                <c:pt idx="3">
                  <c:v>1</c:v>
                </c:pt>
                <c:pt idx="4">
                  <c:v>11</c:v>
                </c:pt>
                <c:pt idx="5">
                  <c:v>3</c:v>
                </c:pt>
                <c:pt idx="7">
                  <c:v>1</c:v>
                </c:pt>
                <c:pt idx="8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4F-4A8E-9A46-1A493AC4A1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086592"/>
        <c:axId val="47100672"/>
      </c:barChart>
      <c:catAx>
        <c:axId val="4708659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47100672"/>
        <c:crosses val="autoZero"/>
        <c:auto val="1"/>
        <c:lblAlgn val="ctr"/>
        <c:lblOffset val="100"/>
        <c:noMultiLvlLbl val="0"/>
      </c:catAx>
      <c:valAx>
        <c:axId val="4710067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708659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2"/>
          <c:order val="0"/>
          <c:tx>
            <c:strRef>
              <c:f>Hoja1!$D$1</c:f>
              <c:strCache>
                <c:ptCount val="1"/>
                <c:pt idx="0">
                  <c:v>WMTS</c:v>
                </c:pt>
              </c:strCache>
            </c:strRef>
          </c:tx>
          <c:spPr>
            <a:solidFill>
              <a:srgbClr val="74B230"/>
            </a:solidFill>
          </c:spPr>
          <c:invertIfNegative val="0"/>
          <c:cat>
            <c:strRef>
              <c:f>Hoja1!$A$2:$A$11</c:f>
              <c:strCache>
                <c:ptCount val="10"/>
                <c:pt idx="0">
                  <c:v>Argentina</c:v>
                </c:pt>
                <c:pt idx="1">
                  <c:v>Chile</c:v>
                </c:pt>
                <c:pt idx="2">
                  <c:v>Brasil</c:v>
                </c:pt>
                <c:pt idx="3">
                  <c:v>Urugay</c:v>
                </c:pt>
                <c:pt idx="4">
                  <c:v>Perú</c:v>
                </c:pt>
                <c:pt idx="5">
                  <c:v>Ecuador</c:v>
                </c:pt>
                <c:pt idx="6">
                  <c:v>Bolivia</c:v>
                </c:pt>
                <c:pt idx="7">
                  <c:v>Venezuela</c:v>
                </c:pt>
                <c:pt idx="8">
                  <c:v>Colombia</c:v>
                </c:pt>
                <c:pt idx="9">
                  <c:v>Mexico </c:v>
                </c:pt>
              </c:strCache>
            </c:strRef>
          </c:cat>
          <c:val>
            <c:numRef>
              <c:f>Hoja1!$D$2:$D$11</c:f>
              <c:numCache>
                <c:formatCode>General</c:formatCode>
                <c:ptCount val="10"/>
                <c:pt idx="1">
                  <c:v>1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E9-4183-B8EC-4F867F3C41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101056"/>
        <c:axId val="62734720"/>
      </c:barChart>
      <c:catAx>
        <c:axId val="4710105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62734720"/>
        <c:crosses val="autoZero"/>
        <c:auto val="1"/>
        <c:lblAlgn val="ctr"/>
        <c:lblOffset val="100"/>
        <c:noMultiLvlLbl val="0"/>
      </c:catAx>
      <c:valAx>
        <c:axId val="6273472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710105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WMS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cat>
            <c:strRef>
              <c:f>Hoja1!$A$2:$A$11</c:f>
              <c:strCache>
                <c:ptCount val="10"/>
                <c:pt idx="0">
                  <c:v>Argentina</c:v>
                </c:pt>
                <c:pt idx="1">
                  <c:v>Chile</c:v>
                </c:pt>
                <c:pt idx="2">
                  <c:v>Brasil</c:v>
                </c:pt>
                <c:pt idx="3">
                  <c:v>Urugay</c:v>
                </c:pt>
                <c:pt idx="4">
                  <c:v>Perú</c:v>
                </c:pt>
                <c:pt idx="5">
                  <c:v>Ecuador</c:v>
                </c:pt>
                <c:pt idx="6">
                  <c:v>Bolivia</c:v>
                </c:pt>
                <c:pt idx="7">
                  <c:v>Venezuela</c:v>
                </c:pt>
                <c:pt idx="8">
                  <c:v>Colombia</c:v>
                </c:pt>
                <c:pt idx="9">
                  <c:v>Mexico </c:v>
                </c:pt>
              </c:strCache>
            </c:strRef>
          </c:cat>
          <c:val>
            <c:numRef>
              <c:f>Hoja1!$B$2:$B$11</c:f>
              <c:numCache>
                <c:formatCode>General</c:formatCode>
                <c:ptCount val="10"/>
                <c:pt idx="0">
                  <c:v>11</c:v>
                </c:pt>
                <c:pt idx="1">
                  <c:v>62</c:v>
                </c:pt>
                <c:pt idx="2">
                  <c:v>4</c:v>
                </c:pt>
                <c:pt idx="3">
                  <c:v>146</c:v>
                </c:pt>
                <c:pt idx="4">
                  <c:v>82</c:v>
                </c:pt>
                <c:pt idx="5">
                  <c:v>8</c:v>
                </c:pt>
                <c:pt idx="6">
                  <c:v>1</c:v>
                </c:pt>
                <c:pt idx="7">
                  <c:v>3</c:v>
                </c:pt>
                <c:pt idx="8">
                  <c:v>15</c:v>
                </c:pt>
                <c:pt idx="9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1-4EBF-A5F3-03E1521F0F98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WFS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Hoja1!$A$2:$A$11</c:f>
              <c:strCache>
                <c:ptCount val="10"/>
                <c:pt idx="0">
                  <c:v>Argentina</c:v>
                </c:pt>
                <c:pt idx="1">
                  <c:v>Chile</c:v>
                </c:pt>
                <c:pt idx="2">
                  <c:v>Brasil</c:v>
                </c:pt>
                <c:pt idx="3">
                  <c:v>Urugay</c:v>
                </c:pt>
                <c:pt idx="4">
                  <c:v>Perú</c:v>
                </c:pt>
                <c:pt idx="5">
                  <c:v>Ecuador</c:v>
                </c:pt>
                <c:pt idx="6">
                  <c:v>Bolivia</c:v>
                </c:pt>
                <c:pt idx="7">
                  <c:v>Venezuela</c:v>
                </c:pt>
                <c:pt idx="8">
                  <c:v>Colombia</c:v>
                </c:pt>
                <c:pt idx="9">
                  <c:v>Mexico </c:v>
                </c:pt>
              </c:strCache>
            </c:strRef>
          </c:cat>
          <c:val>
            <c:numRef>
              <c:f>Hoja1!$C$2:$C$11</c:f>
              <c:numCache>
                <c:formatCode>General</c:formatCode>
                <c:ptCount val="10"/>
                <c:pt idx="0">
                  <c:v>9</c:v>
                </c:pt>
                <c:pt idx="1">
                  <c:v>5</c:v>
                </c:pt>
                <c:pt idx="3">
                  <c:v>1</c:v>
                </c:pt>
                <c:pt idx="4">
                  <c:v>11</c:v>
                </c:pt>
                <c:pt idx="5">
                  <c:v>3</c:v>
                </c:pt>
                <c:pt idx="7">
                  <c:v>1</c:v>
                </c:pt>
                <c:pt idx="8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B1-4EBF-A5F3-03E1521F0F98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WMTS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cat>
            <c:strRef>
              <c:f>Hoja1!$A$2:$A$11</c:f>
              <c:strCache>
                <c:ptCount val="10"/>
                <c:pt idx="0">
                  <c:v>Argentina</c:v>
                </c:pt>
                <c:pt idx="1">
                  <c:v>Chile</c:v>
                </c:pt>
                <c:pt idx="2">
                  <c:v>Brasil</c:v>
                </c:pt>
                <c:pt idx="3">
                  <c:v>Urugay</c:v>
                </c:pt>
                <c:pt idx="4">
                  <c:v>Perú</c:v>
                </c:pt>
                <c:pt idx="5">
                  <c:v>Ecuador</c:v>
                </c:pt>
                <c:pt idx="6">
                  <c:v>Bolivia</c:v>
                </c:pt>
                <c:pt idx="7">
                  <c:v>Venezuela</c:v>
                </c:pt>
                <c:pt idx="8">
                  <c:v>Colombia</c:v>
                </c:pt>
                <c:pt idx="9">
                  <c:v>Mexico </c:v>
                </c:pt>
              </c:strCache>
            </c:strRef>
          </c:cat>
          <c:val>
            <c:numRef>
              <c:f>Hoja1!$D$2:$D$11</c:f>
              <c:numCache>
                <c:formatCode>General</c:formatCode>
                <c:ptCount val="10"/>
                <c:pt idx="1">
                  <c:v>1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B1-4EBF-A5F3-03E1521F0F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3624320"/>
        <c:axId val="64337408"/>
      </c:barChart>
      <c:catAx>
        <c:axId val="6362432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64337408"/>
        <c:crosses val="autoZero"/>
        <c:auto val="1"/>
        <c:lblAlgn val="ctr"/>
        <c:lblOffset val="100"/>
        <c:noMultiLvlLbl val="0"/>
      </c:catAx>
      <c:valAx>
        <c:axId val="64337408"/>
        <c:scaling>
          <c:orientation val="minMax"/>
        </c:scaling>
        <c:delete val="0"/>
        <c:axPos val="l"/>
        <c:majorGridlines/>
        <c:numFmt formatCode="#,##0_);\(#,##0\)" sourceLinked="0"/>
        <c:majorTickMark val="out"/>
        <c:minorTickMark val="none"/>
        <c:tickLblPos val="nextTo"/>
        <c:crossAx val="6362432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9113136467770337"/>
          <c:y val="0.4118564384263787"/>
          <c:w val="0.10709118821499385"/>
          <c:h val="0.20392208536374548"/>
        </c:manualLayout>
      </c:layout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Hoja1!$J$38</c:f>
              <c:strCache>
                <c:ptCount val="1"/>
                <c:pt idx="0">
                  <c:v>Portugal </c:v>
                </c:pt>
              </c:strCache>
            </c:strRef>
          </c:tx>
          <c:spPr>
            <a:solidFill>
              <a:srgbClr val="568424"/>
            </a:solidFill>
          </c:spPr>
          <c:invertIfNegative val="0"/>
          <c:cat>
            <c:strRef>
              <c:f>Hoja1!$K$37:$M$37</c:f>
              <c:strCache>
                <c:ptCount val="3"/>
                <c:pt idx="0">
                  <c:v>WMS</c:v>
                </c:pt>
                <c:pt idx="1">
                  <c:v>WFS</c:v>
                </c:pt>
                <c:pt idx="2">
                  <c:v>WMTS</c:v>
                </c:pt>
              </c:strCache>
            </c:strRef>
          </c:cat>
          <c:val>
            <c:numRef>
              <c:f>Hoja1!$K$38:$M$38</c:f>
              <c:numCache>
                <c:formatCode>General</c:formatCode>
                <c:ptCount val="3"/>
                <c:pt idx="0">
                  <c:v>630</c:v>
                </c:pt>
                <c:pt idx="1">
                  <c:v>120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02-4AF1-B460-82370D94C0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9599232"/>
        <c:axId val="69600768"/>
      </c:barChart>
      <c:catAx>
        <c:axId val="695992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69600768"/>
        <c:crosses val="autoZero"/>
        <c:auto val="1"/>
        <c:lblAlgn val="ctr"/>
        <c:lblOffset val="100"/>
        <c:noMultiLvlLbl val="0"/>
      </c:catAx>
      <c:valAx>
        <c:axId val="69600768"/>
        <c:scaling>
          <c:orientation val="minMax"/>
          <c:max val="7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aseline="0"/>
            </a:pPr>
            <a:endParaRPr lang="es-ES"/>
          </a:p>
        </c:txPr>
        <c:crossAx val="69599232"/>
        <c:crosses val="autoZero"/>
        <c:crossBetween val="between"/>
        <c:majorUnit val="100"/>
        <c:minorUnit val="100"/>
      </c:valAx>
    </c:plotArea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Hoja1!$J$44</c:f>
              <c:strCache>
                <c:ptCount val="1"/>
                <c:pt idx="0">
                  <c:v>Andorra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</c:spPr>
          <c:invertIfNegative val="0"/>
          <c:cat>
            <c:strRef>
              <c:f>Hoja1!$K$43:$M$43</c:f>
              <c:strCache>
                <c:ptCount val="3"/>
                <c:pt idx="0">
                  <c:v>WMS</c:v>
                </c:pt>
                <c:pt idx="1">
                  <c:v>WFS</c:v>
                </c:pt>
                <c:pt idx="2">
                  <c:v>WMTS</c:v>
                </c:pt>
              </c:strCache>
            </c:strRef>
          </c:cat>
          <c:val>
            <c:numRef>
              <c:f>Hoja1!$K$44:$M$44</c:f>
              <c:numCache>
                <c:formatCode>General</c:formatCode>
                <c:ptCount val="3"/>
                <c:pt idx="0">
                  <c:v>30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88-443D-90B7-E5755294AB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9632000"/>
        <c:axId val="69633536"/>
      </c:barChart>
      <c:catAx>
        <c:axId val="6963200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69633536"/>
        <c:crosses val="autoZero"/>
        <c:auto val="1"/>
        <c:lblAlgn val="ctr"/>
        <c:lblOffset val="100"/>
        <c:noMultiLvlLbl val="0"/>
      </c:catAx>
      <c:valAx>
        <c:axId val="6963353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69632000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Hoja1!$J$41</c:f>
              <c:strCache>
                <c:ptCount val="1"/>
                <c:pt idx="0">
                  <c:v>España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Hoja1!$K$40:$M$40</c:f>
              <c:strCache>
                <c:ptCount val="3"/>
                <c:pt idx="0">
                  <c:v>wms</c:v>
                </c:pt>
                <c:pt idx="1">
                  <c:v>WFS</c:v>
                </c:pt>
                <c:pt idx="2">
                  <c:v>WMTS</c:v>
                </c:pt>
              </c:strCache>
            </c:strRef>
          </c:cat>
          <c:val>
            <c:numRef>
              <c:f>Hoja1!$K$41:$M$41</c:f>
              <c:numCache>
                <c:formatCode>General</c:formatCode>
                <c:ptCount val="3"/>
                <c:pt idx="0">
                  <c:v>415</c:v>
                </c:pt>
                <c:pt idx="1">
                  <c:v>33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C0-4A1F-A2DE-88E73AB4D3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9690496"/>
        <c:axId val="69692032"/>
      </c:barChart>
      <c:catAx>
        <c:axId val="696904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69692032"/>
        <c:crosses val="autoZero"/>
        <c:auto val="1"/>
        <c:lblAlgn val="ctr"/>
        <c:lblOffset val="100"/>
        <c:noMultiLvlLbl val="0"/>
      </c:catAx>
      <c:valAx>
        <c:axId val="696920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6969049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077493-B601-42C8-9969-74598696CEA0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2D2B6-3C0E-41C2-8BB3-388A5357862E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712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2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342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42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</a:p>
        </p:txBody>
      </p:sp>
      <p:sp>
        <p:nvSpPr>
          <p:cNvPr id="7342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342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fld id="{CF2CE26D-11B3-4314-AAAC-ACB5A16BE234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55177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C4AA82-FDDD-4404-A186-7CD3105C1B7F}" type="slidenum">
              <a:rPr lang="es-ES" smtClean="0"/>
              <a:pPr/>
              <a:t>1</a:t>
            </a:fld>
            <a:endParaRPr lang="es-ES" smtClean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2CE26D-11B3-4314-AAAC-ACB5A16BE234}" type="slidenum">
              <a:rPr lang="es-ES" smtClean="0"/>
              <a:pPr>
                <a:defRPr/>
              </a:pPr>
              <a:t>2</a:t>
            </a:fld>
            <a:endParaRPr lang="es-E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2CE26D-11B3-4314-AAAC-ACB5A16BE234}" type="slidenum">
              <a:rPr lang="es-ES" smtClean="0"/>
              <a:pPr>
                <a:defRPr/>
              </a:pPr>
              <a:t>7</a:t>
            </a:fld>
            <a:endParaRPr lang="es-E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2CE26D-11B3-4314-AAAC-ACB5A16BE234}" type="slidenum">
              <a:rPr lang="es-ES" smtClean="0"/>
              <a:pPr>
                <a:defRPr/>
              </a:pPr>
              <a:t>8</a:t>
            </a:fld>
            <a:endParaRPr lang="es-E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2CE26D-11B3-4314-AAAC-ACB5A16BE234}" type="slidenum">
              <a:rPr lang="es-ES" smtClean="0"/>
              <a:pPr>
                <a:defRPr/>
              </a:pPr>
              <a:t>9</a:t>
            </a:fld>
            <a:endParaRPr lang="es-E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2CE26D-11B3-4314-AAAC-ACB5A16BE234}" type="slidenum">
              <a:rPr lang="es-ES" smtClean="0"/>
              <a:pPr>
                <a:defRPr/>
              </a:pPr>
              <a:t>10</a:t>
            </a:fld>
            <a:endParaRPr lang="es-E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2CE26D-11B3-4314-AAAC-ACB5A16BE234}" type="slidenum">
              <a:rPr lang="es-ES" smtClean="0"/>
              <a:pPr>
                <a:defRPr/>
              </a:pPr>
              <a:t>11</a:t>
            </a:fld>
            <a:endParaRPr lang="es-E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2CE26D-11B3-4314-AAAC-ACB5A16BE234}" type="slidenum">
              <a:rPr lang="es-ES" smtClean="0"/>
              <a:pPr>
                <a:defRPr/>
              </a:pPr>
              <a:t>12</a:t>
            </a:fld>
            <a:endParaRPr lang="es-E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2CE26D-11B3-4314-AAAC-ACB5A16BE234}" type="slidenum">
              <a:rPr lang="es-ES" smtClean="0"/>
              <a:pPr>
                <a:defRPr/>
              </a:pPr>
              <a:t>13</a:t>
            </a:fld>
            <a:endParaRPr lang="es-E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2CE26D-11B3-4314-AAAC-ACB5A16BE234}" type="slidenum">
              <a:rPr lang="es-ES" smtClean="0"/>
              <a:pPr>
                <a:defRPr/>
              </a:pPr>
              <a:t>14</a:t>
            </a:fld>
            <a:endParaRPr lang="es-E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2CE26D-11B3-4314-AAAC-ACB5A16BE234}" type="slidenum">
              <a:rPr lang="es-ES" smtClean="0"/>
              <a:pPr>
                <a:defRPr/>
              </a:pPr>
              <a:t>15</a:t>
            </a:fld>
            <a:endParaRPr lang="es-E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2CE26D-11B3-4314-AAAC-ACB5A16BE234}" type="slidenum">
              <a:rPr lang="es-ES" smtClean="0"/>
              <a:pPr>
                <a:defRPr/>
              </a:pPr>
              <a:t>16</a:t>
            </a:fld>
            <a:endParaRPr lang="es-E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2CE26D-11B3-4314-AAAC-ACB5A16BE234}" type="slidenum">
              <a:rPr lang="es-ES" smtClean="0"/>
              <a:pPr>
                <a:defRPr/>
              </a:pPr>
              <a:t>17</a:t>
            </a:fld>
            <a:endParaRPr lang="es-E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2" name="Picture 1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25" y="3512754"/>
            <a:ext cx="2563568" cy="216414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  <p:sp>
        <p:nvSpPr>
          <p:cNvPr id="17" name="16 Rectángulo"/>
          <p:cNvSpPr/>
          <p:nvPr userDrawn="1"/>
        </p:nvSpPr>
        <p:spPr bwMode="auto">
          <a:xfrm rot="5400000" flipH="1">
            <a:off x="3920763" y="1634762"/>
            <a:ext cx="3663538" cy="6782938"/>
          </a:xfrm>
          <a:prstGeom prst="rect">
            <a:avLst/>
          </a:prstGeom>
          <a:solidFill>
            <a:srgbClr val="568424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8196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051958"/>
            <a:ext cx="9144000" cy="300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23"/>
          <p:cNvSpPr>
            <a:spLocks noChangeArrowheads="1"/>
          </p:cNvSpPr>
          <p:nvPr userDrawn="1"/>
        </p:nvSpPr>
        <p:spPr bwMode="auto">
          <a:xfrm>
            <a:off x="7327900" y="5410200"/>
            <a:ext cx="1270000" cy="1079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_tradnl" dirty="0"/>
          </a:p>
        </p:txBody>
      </p:sp>
      <p:sp>
        <p:nvSpPr>
          <p:cNvPr id="537721" name="Rectangle 121"/>
          <p:cNvSpPr>
            <a:spLocks noGrp="1" noChangeArrowheads="1"/>
          </p:cNvSpPr>
          <p:nvPr>
            <p:ph type="ctrTitle" sz="quarter"/>
          </p:nvPr>
        </p:nvSpPr>
        <p:spPr>
          <a:xfrm>
            <a:off x="3423684" y="5523358"/>
            <a:ext cx="4808474" cy="464849"/>
          </a:xfrm>
          <a:noFill/>
        </p:spPr>
        <p:txBody>
          <a:bodyPr anchorCtr="1"/>
          <a:lstStyle>
            <a:lvl1pPr algn="ctr">
              <a:buFont typeface="Wingdings" pitchFamily="2" charset="2"/>
              <a:buNone/>
              <a:defRPr sz="2000">
                <a:solidFill>
                  <a:srgbClr val="000066"/>
                </a:solidFill>
                <a:latin typeface="Garamond" pitchFamily="18" charset="0"/>
              </a:defRPr>
            </a:lvl1pPr>
          </a:lstStyle>
          <a:p>
            <a:endParaRPr lang="es-ES" dirty="0"/>
          </a:p>
        </p:txBody>
      </p:sp>
      <p:sp>
        <p:nvSpPr>
          <p:cNvPr id="537722" name="Rectangle 122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498112" y="4574894"/>
            <a:ext cx="4638070" cy="533400"/>
          </a:xfrm>
        </p:spPr>
        <p:txBody>
          <a:bodyPr anchorCtr="1"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 smtClean="0"/>
              <a:t>Título</a:t>
            </a:r>
            <a:endParaRPr lang="es-ES" dirty="0"/>
          </a:p>
        </p:txBody>
      </p:sp>
      <p:pic>
        <p:nvPicPr>
          <p:cNvPr id="12" name="11 Imagen" descr="Logo_IGN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6171705" y="210106"/>
            <a:ext cx="2667000" cy="523875"/>
          </a:xfrm>
          <a:prstGeom prst="rect">
            <a:avLst/>
          </a:prstGeom>
        </p:spPr>
      </p:pic>
      <p:sp>
        <p:nvSpPr>
          <p:cNvPr id="21" name="20 CuadroTexto"/>
          <p:cNvSpPr txBox="1"/>
          <p:nvPr userDrawn="1"/>
        </p:nvSpPr>
        <p:spPr>
          <a:xfrm>
            <a:off x="55163" y="1244246"/>
            <a:ext cx="5628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1" dirty="0" smtClean="0">
                <a:solidFill>
                  <a:srgbClr val="745800"/>
                </a:solidFill>
                <a:latin typeface="Verdana" pitchFamily="34" charset="0"/>
              </a:rPr>
              <a:t>Instituto Geográfico Nacional</a:t>
            </a:r>
            <a:endParaRPr lang="en-US" sz="1800" b="1" dirty="0">
              <a:solidFill>
                <a:srgbClr val="745800"/>
              </a:solidFill>
              <a:latin typeface="Verdana" pitchFamily="34" charset="0"/>
            </a:endParaRPr>
          </a:p>
        </p:txBody>
      </p:sp>
      <p:sp>
        <p:nvSpPr>
          <p:cNvPr id="22" name="21 CuadroTexto"/>
          <p:cNvSpPr txBox="1"/>
          <p:nvPr userDrawn="1"/>
        </p:nvSpPr>
        <p:spPr>
          <a:xfrm>
            <a:off x="0" y="761641"/>
            <a:ext cx="83958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600" b="0" dirty="0" smtClean="0">
                <a:solidFill>
                  <a:srgbClr val="76B531"/>
                </a:solidFill>
                <a:latin typeface="Myriad Pro Light" pitchFamily="34" charset="0"/>
              </a:rPr>
              <a:t>Centro</a:t>
            </a:r>
            <a:r>
              <a:rPr lang="en-US" sz="2600" b="0" baseline="0" dirty="0" smtClean="0">
                <a:solidFill>
                  <a:srgbClr val="76B531"/>
                </a:solidFill>
                <a:latin typeface="Myriad Pro Light" pitchFamily="34" charset="0"/>
              </a:rPr>
              <a:t> Nacional de Información Geográfica</a:t>
            </a:r>
            <a:endParaRPr lang="en-US" sz="2600" b="0" dirty="0">
              <a:solidFill>
                <a:srgbClr val="76B531"/>
              </a:solidFill>
              <a:latin typeface="Myriad Pro Light" pitchFamily="34" charset="0"/>
            </a:endParaRPr>
          </a:p>
        </p:txBody>
      </p:sp>
      <p:pic>
        <p:nvPicPr>
          <p:cNvPr id="31" name="Picture 6"/>
          <p:cNvPicPr>
            <a:picLocks noChangeAspect="1" noChangeArrowheads="1"/>
          </p:cNvPicPr>
          <p:nvPr userDrawn="1"/>
        </p:nvPicPr>
        <p:blipFill>
          <a:blip r:embed="rId5" cstate="print"/>
          <a:srcRect l="58174" t="46810"/>
          <a:stretch>
            <a:fillRect/>
          </a:stretch>
        </p:blipFill>
        <p:spPr bwMode="auto">
          <a:xfrm rot="5400000">
            <a:off x="620892" y="5095916"/>
            <a:ext cx="3476623" cy="47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0" name="Picture 8"/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745800">
                <a:tint val="45000"/>
                <a:satMod val="400000"/>
              </a:srgbClr>
            </a:duotone>
          </a:blip>
          <a:srcRect/>
          <a:stretch>
            <a:fillRect/>
          </a:stretch>
        </p:blipFill>
        <p:spPr bwMode="auto">
          <a:xfrm>
            <a:off x="6382843" y="1829043"/>
            <a:ext cx="2915536" cy="1484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8" name="Picture 6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" y="3277589"/>
            <a:ext cx="9144000" cy="130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2" descr="AESIG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56106" y="5810249"/>
            <a:ext cx="1302393" cy="623779"/>
          </a:xfrm>
          <a:prstGeom prst="rect">
            <a:avLst/>
          </a:prstGeom>
          <a:noFill/>
        </p:spPr>
      </p:pic>
      <p:sp>
        <p:nvSpPr>
          <p:cNvPr id="19" name="Rectangle 370"/>
          <p:cNvSpPr>
            <a:spLocks noChangeArrowheads="1"/>
          </p:cNvSpPr>
          <p:nvPr userDrawn="1"/>
        </p:nvSpPr>
        <p:spPr bwMode="auto">
          <a:xfrm>
            <a:off x="7255116" y="64389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fld id="{86E46572-B246-4E1E-9D6F-453A50965B56}" type="slidenum">
              <a:rPr kumimoji="0" lang="es-ES" sz="1000" b="0">
                <a:solidFill>
                  <a:srgbClr val="000000"/>
                </a:solidFill>
                <a:latin typeface="Verdana" pitchFamily="34" charset="0"/>
              </a:rPr>
              <a:pPr>
                <a:defRPr/>
              </a:pPr>
              <a:t>‹Nº›</a:t>
            </a:fld>
            <a:endParaRPr kumimoji="0" lang="es-ES" sz="1000" b="0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23" name="Rectangle 190"/>
          <p:cNvSpPr>
            <a:spLocks noChangeArrowheads="1"/>
          </p:cNvSpPr>
          <p:nvPr userDrawn="1"/>
        </p:nvSpPr>
        <p:spPr bwMode="auto">
          <a:xfrm>
            <a:off x="-136480" y="6615916"/>
            <a:ext cx="2606720" cy="299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es-ES_tradnl" sz="1000" b="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</a:t>
            </a:r>
            <a:r>
              <a:rPr kumimoji="0" lang="es-ES_tradnl" sz="1000" b="0" baseline="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0" lang="es-ES_tradnl" sz="1000" b="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27</a:t>
            </a:r>
            <a:r>
              <a:rPr kumimoji="0" lang="es-ES_tradnl" sz="1000" b="0" baseline="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al 30 septiembre 2016</a:t>
            </a:r>
            <a:endParaRPr kumimoji="0" lang="es-ES" sz="1000" b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4" name="Rectangle 188"/>
          <p:cNvSpPr>
            <a:spLocks noChangeArrowheads="1"/>
          </p:cNvSpPr>
          <p:nvPr userDrawn="1"/>
        </p:nvSpPr>
        <p:spPr bwMode="auto">
          <a:xfrm>
            <a:off x="3260863" y="6604164"/>
            <a:ext cx="3187700" cy="26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es-ES" sz="1000" b="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Palacio de Congresos</a:t>
            </a:r>
            <a:r>
              <a:rPr kumimoji="0" lang="es-ES" sz="1000" b="0" baseline="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Barcelona</a:t>
            </a:r>
            <a:endParaRPr kumimoji="0" lang="es-ES" sz="1000" b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0717" y="263525"/>
            <a:ext cx="7849395" cy="327025"/>
          </a:xfrm>
        </p:spPr>
        <p:txBody>
          <a:bodyPr/>
          <a:lstStyle/>
          <a:p>
            <a:r>
              <a:rPr lang="es-ES" dirty="0" smtClean="0"/>
              <a:t>Haga clic para modificar el estilo de título </a:t>
            </a:r>
            <a:endParaRPr lang="es-ES_tradnl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72956" y="952500"/>
            <a:ext cx="8447963" cy="5477860"/>
          </a:xfrm>
        </p:spPr>
        <p:txBody>
          <a:bodyPr/>
          <a:lstStyle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rgbClr val="FF33CC"/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heme" Target="../theme/theme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creativecommons.org/licenses/by/3.0/es/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logo JIIDE 2016"/>
          <p:cNvPicPr>
            <a:picLocks noChangeAspect="1" noChangeArrowheads="1"/>
          </p:cNvPicPr>
          <p:nvPr userDrawn="1"/>
        </p:nvPicPr>
        <p:blipFill>
          <a:blip r:embed="rId4" cstate="print"/>
          <a:srcRect r="86216"/>
          <a:stretch>
            <a:fillRect/>
          </a:stretch>
        </p:blipFill>
        <p:spPr bwMode="auto">
          <a:xfrm>
            <a:off x="8124216" y="74428"/>
            <a:ext cx="895209" cy="783723"/>
          </a:xfrm>
          <a:prstGeom prst="rect">
            <a:avLst/>
          </a:prstGeom>
          <a:noFill/>
        </p:spPr>
      </p:pic>
      <p:pic>
        <p:nvPicPr>
          <p:cNvPr id="9219" name="Picture 3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634337" y="5899160"/>
            <a:ext cx="1509663" cy="958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62"/>
          <p:cNvSpPr>
            <a:spLocks noGrp="1" noChangeArrowheads="1"/>
          </p:cNvSpPr>
          <p:nvPr>
            <p:ph type="title"/>
          </p:nvPr>
        </p:nvSpPr>
        <p:spPr bwMode="auto">
          <a:xfrm>
            <a:off x="213039" y="265813"/>
            <a:ext cx="7594582" cy="365373"/>
          </a:xfrm>
          <a:prstGeom prst="rect">
            <a:avLst/>
          </a:prstGeom>
          <a:solidFill>
            <a:srgbClr val="745800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dirty="0" smtClean="0"/>
              <a:t>T</a:t>
            </a:r>
            <a:r>
              <a:rPr lang="es-ES" dirty="0" err="1" smtClean="0"/>
              <a:t>ítulo</a:t>
            </a:r>
            <a:r>
              <a:rPr lang="es-ES" dirty="0" smtClean="0"/>
              <a:t> de</a:t>
            </a:r>
            <a:r>
              <a:rPr lang="es-ES_tradnl" dirty="0" smtClean="0"/>
              <a:t> Diapositiva</a:t>
            </a:r>
            <a:endParaRPr lang="es-ES" dirty="0" smtClean="0"/>
          </a:p>
        </p:txBody>
      </p:sp>
      <p:sp>
        <p:nvSpPr>
          <p:cNvPr id="1027" name="Rectangle 6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6604" y="961901"/>
            <a:ext cx="8611736" cy="5397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</a:p>
        </p:txBody>
      </p:sp>
      <p:pic>
        <p:nvPicPr>
          <p:cNvPr id="16" name="Picture 24">
            <a:hlinkClick r:id="rId6"/>
          </p:cNvPr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2138" y="5951630"/>
            <a:ext cx="924626" cy="3263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36946" name="Rectangle 370"/>
          <p:cNvSpPr>
            <a:spLocks noChangeArrowheads="1"/>
          </p:cNvSpPr>
          <p:nvPr userDrawn="1"/>
        </p:nvSpPr>
        <p:spPr bwMode="auto">
          <a:xfrm>
            <a:off x="7255116" y="64389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fld id="{86E46572-B246-4E1E-9D6F-453A50965B56}" type="slidenum">
              <a:rPr kumimoji="0" lang="es-ES" sz="1000" b="0">
                <a:solidFill>
                  <a:srgbClr val="000000"/>
                </a:solidFill>
                <a:latin typeface="Verdana" pitchFamily="34" charset="0"/>
              </a:rPr>
              <a:pPr>
                <a:defRPr/>
              </a:pPr>
              <a:t>‹Nº›</a:t>
            </a:fld>
            <a:endParaRPr kumimoji="0" lang="es-ES" sz="1000" b="0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10" name="Rectangle 190"/>
          <p:cNvSpPr>
            <a:spLocks noChangeArrowheads="1"/>
          </p:cNvSpPr>
          <p:nvPr userDrawn="1"/>
        </p:nvSpPr>
        <p:spPr bwMode="auto">
          <a:xfrm>
            <a:off x="-136480" y="6615916"/>
            <a:ext cx="2606720" cy="299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es-ES_tradnl" sz="1000" b="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</a:t>
            </a:r>
            <a:r>
              <a:rPr kumimoji="0" lang="es-ES_tradnl" sz="1000" b="0" baseline="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0" lang="es-ES_tradnl" sz="1000" b="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27</a:t>
            </a:r>
            <a:r>
              <a:rPr kumimoji="0" lang="es-ES_tradnl" sz="1000" b="0" baseline="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al 30 septiembre 2016</a:t>
            </a:r>
            <a:endParaRPr kumimoji="0" lang="es-ES" sz="1000" b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ectangle 188"/>
          <p:cNvSpPr>
            <a:spLocks noChangeArrowheads="1"/>
          </p:cNvSpPr>
          <p:nvPr userDrawn="1"/>
        </p:nvSpPr>
        <p:spPr bwMode="auto">
          <a:xfrm>
            <a:off x="3260863" y="6604164"/>
            <a:ext cx="3187700" cy="26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es-ES" sz="1000" b="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Palacio de Congresos</a:t>
            </a:r>
            <a:r>
              <a:rPr kumimoji="0" lang="es-ES" sz="1000" b="0" baseline="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Barcelona</a:t>
            </a:r>
            <a:endParaRPr kumimoji="0" lang="es-ES" sz="1000" b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2" r:id="rId1"/>
    <p:sldLayoutId id="2147484270" r:id="rId2"/>
  </p:sldLayoutIdLst>
  <p:timing>
    <p:tnLst>
      <p:par>
        <p:cTn id="1" dur="indefinite" restart="never" nodeType="tmRoot"/>
      </p:par>
    </p:tnLst>
  </p:timing>
  <p:txStyles>
    <p:titleStyle>
      <a:lvl1pPr algn="just" rtl="0" eaLnBrk="0" fontAlgn="base" hangingPunct="0">
        <a:spcBef>
          <a:spcPct val="0"/>
        </a:spcBef>
        <a:spcAft>
          <a:spcPct val="0"/>
        </a:spcAft>
        <a:buSzPct val="90000"/>
        <a:buFont typeface="Wingdings" pitchFamily="2" charset="2"/>
        <a:buChar char="Ø"/>
        <a:defRPr sz="1800" b="1">
          <a:solidFill>
            <a:schemeClr val="bg1"/>
          </a:solidFill>
          <a:latin typeface="Verdana" pitchFamily="34" charset="0"/>
          <a:ea typeface="+mj-ea"/>
          <a:cs typeface="+mj-cs"/>
        </a:defRPr>
      </a:lvl1pPr>
      <a:lvl2pPr algn="just" rtl="0" eaLnBrk="0" fontAlgn="base" hangingPunct="0">
        <a:spcBef>
          <a:spcPct val="0"/>
        </a:spcBef>
        <a:spcAft>
          <a:spcPct val="0"/>
        </a:spcAft>
        <a:buSzPct val="90000"/>
        <a:buFont typeface="Wingdings" pitchFamily="2" charset="2"/>
        <a:buChar char="v"/>
        <a:defRPr sz="2400" b="1">
          <a:solidFill>
            <a:schemeClr val="bg1"/>
          </a:solidFill>
          <a:latin typeface="Tahoma" pitchFamily="34" charset="0"/>
        </a:defRPr>
      </a:lvl2pPr>
      <a:lvl3pPr algn="just" rtl="0" eaLnBrk="0" fontAlgn="base" hangingPunct="0">
        <a:spcBef>
          <a:spcPct val="0"/>
        </a:spcBef>
        <a:spcAft>
          <a:spcPct val="0"/>
        </a:spcAft>
        <a:buSzPct val="90000"/>
        <a:buFont typeface="Wingdings" pitchFamily="2" charset="2"/>
        <a:buChar char="v"/>
        <a:defRPr sz="2400" b="1">
          <a:solidFill>
            <a:schemeClr val="bg1"/>
          </a:solidFill>
          <a:latin typeface="Tahoma" pitchFamily="34" charset="0"/>
        </a:defRPr>
      </a:lvl3pPr>
      <a:lvl4pPr algn="just" rtl="0" eaLnBrk="0" fontAlgn="base" hangingPunct="0">
        <a:spcBef>
          <a:spcPct val="0"/>
        </a:spcBef>
        <a:spcAft>
          <a:spcPct val="0"/>
        </a:spcAft>
        <a:buSzPct val="90000"/>
        <a:buFont typeface="Wingdings" pitchFamily="2" charset="2"/>
        <a:buChar char="v"/>
        <a:defRPr sz="2400" b="1">
          <a:solidFill>
            <a:schemeClr val="bg1"/>
          </a:solidFill>
          <a:latin typeface="Tahoma" pitchFamily="34" charset="0"/>
        </a:defRPr>
      </a:lvl4pPr>
      <a:lvl5pPr algn="just" rtl="0" eaLnBrk="0" fontAlgn="base" hangingPunct="0">
        <a:spcBef>
          <a:spcPct val="0"/>
        </a:spcBef>
        <a:spcAft>
          <a:spcPct val="0"/>
        </a:spcAft>
        <a:buSzPct val="90000"/>
        <a:buFont typeface="Wingdings" pitchFamily="2" charset="2"/>
        <a:buChar char="v"/>
        <a:defRPr sz="2400" b="1">
          <a:solidFill>
            <a:schemeClr val="bg1"/>
          </a:solidFill>
          <a:latin typeface="Tahoma" pitchFamily="34" charset="0"/>
        </a:defRPr>
      </a:lvl5pPr>
      <a:lvl6pPr marL="457200" algn="just" rtl="0" fontAlgn="base">
        <a:spcBef>
          <a:spcPct val="0"/>
        </a:spcBef>
        <a:spcAft>
          <a:spcPct val="0"/>
        </a:spcAft>
        <a:buSzPct val="90000"/>
        <a:buFont typeface="Wingdings" pitchFamily="2" charset="2"/>
        <a:buChar char="v"/>
        <a:defRPr sz="2400" b="1">
          <a:solidFill>
            <a:schemeClr val="bg1"/>
          </a:solidFill>
          <a:latin typeface="Tahoma" pitchFamily="34" charset="0"/>
        </a:defRPr>
      </a:lvl6pPr>
      <a:lvl7pPr marL="914400" algn="just" rtl="0" fontAlgn="base">
        <a:spcBef>
          <a:spcPct val="0"/>
        </a:spcBef>
        <a:spcAft>
          <a:spcPct val="0"/>
        </a:spcAft>
        <a:buSzPct val="90000"/>
        <a:buFont typeface="Wingdings" pitchFamily="2" charset="2"/>
        <a:buChar char="v"/>
        <a:defRPr sz="2400" b="1">
          <a:solidFill>
            <a:schemeClr val="bg1"/>
          </a:solidFill>
          <a:latin typeface="Tahoma" pitchFamily="34" charset="0"/>
        </a:defRPr>
      </a:lvl7pPr>
      <a:lvl8pPr marL="1371600" algn="just" rtl="0" fontAlgn="base">
        <a:spcBef>
          <a:spcPct val="0"/>
        </a:spcBef>
        <a:spcAft>
          <a:spcPct val="0"/>
        </a:spcAft>
        <a:buSzPct val="90000"/>
        <a:buFont typeface="Wingdings" pitchFamily="2" charset="2"/>
        <a:buChar char="v"/>
        <a:defRPr sz="2400" b="1">
          <a:solidFill>
            <a:schemeClr val="bg1"/>
          </a:solidFill>
          <a:latin typeface="Tahoma" pitchFamily="34" charset="0"/>
        </a:defRPr>
      </a:lvl8pPr>
      <a:lvl9pPr marL="1828800" algn="just" rtl="0" fontAlgn="base">
        <a:spcBef>
          <a:spcPct val="0"/>
        </a:spcBef>
        <a:spcAft>
          <a:spcPct val="0"/>
        </a:spcAft>
        <a:buSzPct val="90000"/>
        <a:buFont typeface="Wingdings" pitchFamily="2" charset="2"/>
        <a:buChar char="v"/>
        <a:defRPr sz="2400" b="1">
          <a:solidFill>
            <a:schemeClr val="bg1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v"/>
        <a:defRPr sz="2800" b="1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80000"/>
        <a:buFont typeface="Courier New" pitchFamily="49" charset="0"/>
        <a:buChar char="o"/>
        <a:defRPr sz="2400" b="1">
          <a:solidFill>
            <a:srgbClr val="76B53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itchFamily="2" charset="2"/>
        <a:buChar char="§"/>
        <a:defRPr sz="2200" b="1">
          <a:solidFill>
            <a:schemeClr val="bg1">
              <a:lumMod val="50000"/>
            </a:schemeClr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8"/>
        </a:buBlip>
        <a:defRPr sz="2000" b="1">
          <a:solidFill>
            <a:schemeClr val="tx2">
              <a:lumMod val="20000"/>
              <a:lumOff val="80000"/>
            </a:schemeClr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9"/>
        </a:buBlip>
        <a:defRPr sz="2200" b="1">
          <a:solidFill>
            <a:schemeClr val="accent4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70000"/>
        <a:buBlip>
          <a:blip r:embed="rId9"/>
        </a:buBlip>
        <a:defRPr sz="22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70000"/>
        <a:buBlip>
          <a:blip r:embed="rId9"/>
        </a:buBlip>
        <a:defRPr sz="22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70000"/>
        <a:buBlip>
          <a:blip r:embed="rId9"/>
        </a:buBlip>
        <a:defRPr sz="22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70000"/>
        <a:buBlip>
          <a:blip r:embed="rId9"/>
        </a:buBlip>
        <a:defRPr sz="2200" b="1">
          <a:solidFill>
            <a:schemeClr val="tx1"/>
          </a:solidFill>
          <a:latin typeface="+mn-lt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2811438" y="5593682"/>
            <a:ext cx="5841242" cy="389581"/>
          </a:xfrm>
          <a:noFill/>
        </p:spPr>
        <p:txBody>
          <a:bodyPr/>
          <a:lstStyle/>
          <a:p>
            <a:pPr eaLnBrk="1" hangingPunct="1"/>
            <a:r>
              <a:rPr lang="es-ES_tradnl" sz="2000" b="0" dirty="0" smtClean="0">
                <a:solidFill>
                  <a:srgbClr val="FFFFCC"/>
                </a:solidFill>
                <a:latin typeface="Myriad Pro Light" pitchFamily="34" charset="0"/>
              </a:rPr>
              <a:t>Guadalupe Cano Cavanillas</a:t>
            </a:r>
          </a:p>
        </p:txBody>
      </p:sp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3019646" y="4146698"/>
            <a:ext cx="5528931" cy="802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SzPct val="65000"/>
            </a:pPr>
            <a:r>
              <a:rPr kumimoji="0" lang="es-ES" sz="2800" dirty="0" smtClean="0">
                <a:solidFill>
                  <a:schemeClr val="bg1"/>
                </a:solidFill>
                <a:latin typeface="Verdana" pitchFamily="34" charset="0"/>
                <a:cs typeface="Aharoni" pitchFamily="2" charset="-79"/>
              </a:rPr>
              <a:t>Implementación de los Servicios OGC en América Latina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cs typeface="Aharoni" pitchFamily="2" charset="-79"/>
              </a:rPr>
              <a:t>Implementación de los Servicios OGC en América Latina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Países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disponen</a:t>
            </a:r>
            <a:r>
              <a:rPr lang="en-US" dirty="0" smtClean="0"/>
              <a:t> de </a:t>
            </a:r>
            <a:r>
              <a:rPr lang="en-US" dirty="0" err="1" smtClean="0"/>
              <a:t>Servicios</a:t>
            </a:r>
            <a:r>
              <a:rPr lang="en-US" dirty="0" smtClean="0"/>
              <a:t> OGC</a:t>
            </a:r>
          </a:p>
        </p:txBody>
      </p:sp>
      <p:pic>
        <p:nvPicPr>
          <p:cNvPr id="7" name="6 Imagen" descr="Sin título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29069" y="1711935"/>
            <a:ext cx="6858001" cy="45821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1" y="887245"/>
            <a:ext cx="8027581" cy="4756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72956" y="2573079"/>
            <a:ext cx="8447963" cy="2541182"/>
          </a:xfrm>
        </p:spPr>
        <p:txBody>
          <a:bodyPr/>
          <a:lstStyle/>
          <a:p>
            <a:r>
              <a:rPr lang="es-ES" dirty="0" smtClean="0"/>
              <a:t>"Preparándonos para Generar, Compartir e Integrar la Información </a:t>
            </a:r>
            <a:r>
              <a:rPr lang="es-ES" dirty="0" err="1" smtClean="0"/>
              <a:t>Geoespacial</a:t>
            </a:r>
            <a:r>
              <a:rPr lang="es-ES" dirty="0" smtClean="0"/>
              <a:t> "</a:t>
            </a:r>
          </a:p>
          <a:p>
            <a:pPr lvl="1"/>
            <a:endParaRPr lang="es-E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9851" y="1158948"/>
            <a:ext cx="7692736" cy="400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Países con servicios OGC</a:t>
            </a:r>
          </a:p>
          <a:p>
            <a:pPr lvl="1"/>
            <a:r>
              <a:rPr lang="es-ES" dirty="0" smtClean="0"/>
              <a:t>Argentina</a:t>
            </a:r>
          </a:p>
          <a:p>
            <a:pPr lvl="1"/>
            <a:r>
              <a:rPr lang="es-ES" dirty="0" smtClean="0"/>
              <a:t>Chile</a:t>
            </a:r>
          </a:p>
          <a:p>
            <a:pPr lvl="1"/>
            <a:r>
              <a:rPr lang="es-ES" dirty="0" smtClean="0"/>
              <a:t>Brasil</a:t>
            </a:r>
          </a:p>
          <a:p>
            <a:pPr lvl="1"/>
            <a:r>
              <a:rPr lang="es-ES" dirty="0" smtClean="0"/>
              <a:t>Uruguay</a:t>
            </a:r>
          </a:p>
          <a:p>
            <a:pPr lvl="1"/>
            <a:r>
              <a:rPr lang="es-ES" dirty="0" smtClean="0"/>
              <a:t>Perú</a:t>
            </a:r>
          </a:p>
          <a:p>
            <a:pPr lvl="1"/>
            <a:r>
              <a:rPr lang="es-ES" dirty="0" smtClean="0"/>
              <a:t>Ecuador</a:t>
            </a:r>
          </a:p>
          <a:p>
            <a:pPr lvl="1"/>
            <a:r>
              <a:rPr lang="es-ES" dirty="0" smtClean="0"/>
              <a:t>Bolivia</a:t>
            </a:r>
          </a:p>
          <a:p>
            <a:pPr lvl="1"/>
            <a:r>
              <a:rPr lang="es-ES" dirty="0" smtClean="0"/>
              <a:t>Venezuela</a:t>
            </a:r>
          </a:p>
          <a:p>
            <a:pPr lvl="1"/>
            <a:r>
              <a:rPr lang="es-ES" dirty="0" smtClean="0"/>
              <a:t>Colombia</a:t>
            </a:r>
          </a:p>
          <a:p>
            <a:pPr lvl="1"/>
            <a:r>
              <a:rPr lang="es-ES" dirty="0" smtClean="0"/>
              <a:t>México</a:t>
            </a:r>
            <a:endParaRPr lang="es-E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cs typeface="Aharoni" pitchFamily="2" charset="-79"/>
              </a:rPr>
              <a:t>Implementación de los Servicios OGC en América Latina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Implementación</a:t>
            </a:r>
            <a:r>
              <a:rPr lang="en-US" dirty="0" smtClean="0"/>
              <a:t> de los </a:t>
            </a:r>
            <a:r>
              <a:rPr lang="en-US" dirty="0" err="1" smtClean="0"/>
              <a:t>Servicios</a:t>
            </a:r>
            <a:r>
              <a:rPr lang="en-US" dirty="0" smtClean="0"/>
              <a:t> WMS</a:t>
            </a:r>
            <a:endParaRPr lang="en-US" dirty="0"/>
          </a:p>
        </p:txBody>
      </p:sp>
      <p:graphicFrame>
        <p:nvGraphicFramePr>
          <p:cNvPr id="5" name="2 Gráfico"/>
          <p:cNvGraphicFramePr/>
          <p:nvPr/>
        </p:nvGraphicFramePr>
        <p:xfrm>
          <a:off x="680484" y="1584251"/>
          <a:ext cx="7262037" cy="43117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cs typeface="Aharoni" pitchFamily="2" charset="-79"/>
              </a:rPr>
              <a:t>Implementación de los Servicios OGC en América Latina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Implementación</a:t>
            </a:r>
            <a:r>
              <a:rPr lang="en-US" dirty="0" smtClean="0"/>
              <a:t> de los </a:t>
            </a:r>
            <a:r>
              <a:rPr lang="en-US" dirty="0" err="1" smtClean="0"/>
              <a:t>Servicios</a:t>
            </a:r>
            <a:r>
              <a:rPr lang="en-US" dirty="0" smtClean="0"/>
              <a:t> WFS</a:t>
            </a:r>
            <a:endParaRPr lang="en-US" dirty="0"/>
          </a:p>
        </p:txBody>
      </p:sp>
      <p:graphicFrame>
        <p:nvGraphicFramePr>
          <p:cNvPr id="7" name="3 Gráfico"/>
          <p:cNvGraphicFramePr/>
          <p:nvPr/>
        </p:nvGraphicFramePr>
        <p:xfrm>
          <a:off x="765544" y="1669311"/>
          <a:ext cx="6943061" cy="4226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cs typeface="Aharoni" pitchFamily="2" charset="-79"/>
              </a:rPr>
              <a:t>Implementación de los Servicios OGC en América Latina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Implementación</a:t>
            </a:r>
            <a:r>
              <a:rPr lang="en-US" dirty="0" smtClean="0"/>
              <a:t> de los </a:t>
            </a:r>
            <a:r>
              <a:rPr lang="en-US" dirty="0" err="1" smtClean="0"/>
              <a:t>Servicios</a:t>
            </a:r>
            <a:r>
              <a:rPr lang="en-US" dirty="0" smtClean="0"/>
              <a:t> WMTS</a:t>
            </a:r>
            <a:endParaRPr lang="en-US" dirty="0"/>
          </a:p>
        </p:txBody>
      </p:sp>
      <p:graphicFrame>
        <p:nvGraphicFramePr>
          <p:cNvPr id="6" name="5 Gráfico"/>
          <p:cNvGraphicFramePr/>
          <p:nvPr/>
        </p:nvGraphicFramePr>
        <p:xfrm>
          <a:off x="967562" y="1871330"/>
          <a:ext cx="6539023" cy="3604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cs typeface="Aharoni" pitchFamily="2" charset="-79"/>
              </a:rPr>
              <a:t>Implementación de los Servicios OGC en América Latina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Comparativa</a:t>
            </a:r>
            <a:r>
              <a:rPr lang="en-US" dirty="0" smtClean="0"/>
              <a:t> entre los </a:t>
            </a:r>
            <a:r>
              <a:rPr lang="en-US" dirty="0" err="1" smtClean="0"/>
              <a:t>distintos</a:t>
            </a:r>
            <a:r>
              <a:rPr lang="en-US" dirty="0" smtClean="0"/>
              <a:t> </a:t>
            </a:r>
            <a:r>
              <a:rPr lang="en-US" dirty="0" err="1" smtClean="0"/>
              <a:t>tipos</a:t>
            </a:r>
            <a:r>
              <a:rPr lang="en-US" dirty="0" smtClean="0"/>
              <a:t> de </a:t>
            </a:r>
            <a:r>
              <a:rPr lang="en-US" dirty="0" err="1" smtClean="0"/>
              <a:t>servicios</a:t>
            </a:r>
            <a:endParaRPr lang="en-US" dirty="0"/>
          </a:p>
        </p:txBody>
      </p:sp>
      <p:graphicFrame>
        <p:nvGraphicFramePr>
          <p:cNvPr id="5" name="6 Gráfico"/>
          <p:cNvGraphicFramePr/>
          <p:nvPr/>
        </p:nvGraphicFramePr>
        <p:xfrm>
          <a:off x="871869" y="1743739"/>
          <a:ext cx="7145079" cy="4136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cs typeface="Aharoni" pitchFamily="2" charset="-79"/>
              </a:rPr>
              <a:t>Implementación de los Servicios OGC en América Latina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Implementación</a:t>
            </a:r>
            <a:r>
              <a:rPr lang="en-US" dirty="0" smtClean="0"/>
              <a:t> de los </a:t>
            </a:r>
            <a:r>
              <a:rPr lang="en-US" dirty="0" err="1" smtClean="0"/>
              <a:t>Servicios</a:t>
            </a:r>
            <a:r>
              <a:rPr lang="en-US" dirty="0" smtClean="0"/>
              <a:t> OGC en Portugal</a:t>
            </a:r>
            <a:endParaRPr lang="en-US" dirty="0"/>
          </a:p>
        </p:txBody>
      </p:sp>
      <p:graphicFrame>
        <p:nvGraphicFramePr>
          <p:cNvPr id="6" name="7 Gráfico"/>
          <p:cNvGraphicFramePr/>
          <p:nvPr/>
        </p:nvGraphicFramePr>
        <p:xfrm>
          <a:off x="1031358" y="1901234"/>
          <a:ext cx="5794744" cy="3702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cs typeface="Aharoni" pitchFamily="2" charset="-79"/>
              </a:rPr>
              <a:t>Implementación de los Servicios OGC en América Latina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Implementación</a:t>
            </a:r>
            <a:r>
              <a:rPr lang="en-US" dirty="0" smtClean="0"/>
              <a:t> de los </a:t>
            </a:r>
            <a:r>
              <a:rPr lang="en-US" dirty="0" err="1" smtClean="0"/>
              <a:t>Servicios</a:t>
            </a:r>
            <a:r>
              <a:rPr lang="en-US" dirty="0" smtClean="0"/>
              <a:t> OGC en Andorra</a:t>
            </a:r>
            <a:endParaRPr lang="en-US" dirty="0"/>
          </a:p>
        </p:txBody>
      </p:sp>
      <p:graphicFrame>
        <p:nvGraphicFramePr>
          <p:cNvPr id="5" name="8 Gráfico"/>
          <p:cNvGraphicFramePr/>
          <p:nvPr/>
        </p:nvGraphicFramePr>
        <p:xfrm>
          <a:off x="1116419" y="1796903"/>
          <a:ext cx="6262576" cy="3891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cs typeface="Aharoni" pitchFamily="2" charset="-79"/>
              </a:rPr>
              <a:t>Implementación de los Servicios OGC en América Latina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Implementación</a:t>
            </a:r>
            <a:r>
              <a:rPr lang="en-US" dirty="0" smtClean="0"/>
              <a:t> de los </a:t>
            </a:r>
            <a:r>
              <a:rPr lang="en-US" dirty="0" err="1" smtClean="0"/>
              <a:t>Servicios</a:t>
            </a:r>
            <a:r>
              <a:rPr lang="en-US" dirty="0" smtClean="0"/>
              <a:t> OGC en </a:t>
            </a:r>
            <a:r>
              <a:rPr lang="en-US" dirty="0" err="1" smtClean="0"/>
              <a:t>España</a:t>
            </a:r>
            <a:endParaRPr lang="en-US" dirty="0"/>
          </a:p>
        </p:txBody>
      </p:sp>
      <p:graphicFrame>
        <p:nvGraphicFramePr>
          <p:cNvPr id="6" name="9 Gráfico"/>
          <p:cNvGraphicFramePr/>
          <p:nvPr/>
        </p:nvGraphicFramePr>
        <p:xfrm>
          <a:off x="1073887" y="1839433"/>
          <a:ext cx="6911163" cy="3636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cs typeface="Aharoni" pitchFamily="2" charset="-79"/>
              </a:rPr>
              <a:t>Implementación de los Servicios OGC en América Latina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Conclusiones</a:t>
            </a:r>
            <a:endParaRPr lang="en-US" dirty="0" smtClean="0"/>
          </a:p>
          <a:p>
            <a:pPr lvl="1"/>
            <a:r>
              <a:rPr lang="es-ES" dirty="0" smtClean="0"/>
              <a:t>El protocolo WMS para visualizar mapas está muy extendido en todos los países.</a:t>
            </a:r>
          </a:p>
          <a:p>
            <a:pPr lvl="1"/>
            <a:r>
              <a:rPr lang="es-ES" dirty="0" smtClean="0"/>
              <a:t>El protocolo WFS, se implementa en casi todos los países</a:t>
            </a:r>
          </a:p>
          <a:p>
            <a:pPr lvl="1"/>
            <a:r>
              <a:rPr lang="es-ES" dirty="0" smtClean="0"/>
              <a:t>Los WMTS son servicios todavía muy poco implementados a pesar de las ventajas que ofrecen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cs typeface="Aharoni" pitchFamily="2" charset="-79"/>
              </a:rPr>
              <a:t>Implementación de los Servicios OGC en América Latina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OGC aprobó en enero de este año 2016 un perfil simplificado de su estándar WMTS, el llamado </a:t>
            </a:r>
            <a:r>
              <a:rPr lang="es-ES" u="sng" dirty="0" smtClean="0"/>
              <a:t>WMTS Simple </a:t>
            </a:r>
            <a:r>
              <a:rPr lang="es-ES" u="sng" dirty="0" err="1" smtClean="0"/>
              <a:t>Profile</a:t>
            </a:r>
            <a:r>
              <a:rPr lang="es-ES" u="sng" dirty="0" smtClean="0"/>
              <a:t>,</a:t>
            </a:r>
          </a:p>
          <a:p>
            <a:pPr lvl="1"/>
            <a:r>
              <a:rPr lang="es-ES" dirty="0" smtClean="0"/>
              <a:t>Aumenta la interoperabilidad de este tipo de servicios</a:t>
            </a:r>
          </a:p>
          <a:p>
            <a:pPr lvl="1"/>
            <a:r>
              <a:rPr lang="es-ES" dirty="0" smtClean="0"/>
              <a:t> Facilita el desarrollo de clientes de visualización al proponer una división en teselas (</a:t>
            </a:r>
            <a:r>
              <a:rPr lang="es-ES" i="1" dirty="0" smtClean="0"/>
              <a:t>Tile </a:t>
            </a:r>
            <a:r>
              <a:rPr lang="es-ES" i="1" dirty="0" err="1" smtClean="0"/>
              <a:t>Matrix</a:t>
            </a:r>
            <a:r>
              <a:rPr lang="es-ES" i="1" dirty="0" smtClean="0"/>
              <a:t> Set</a:t>
            </a:r>
            <a:r>
              <a:rPr lang="es-ES" dirty="0" smtClean="0"/>
              <a:t>) compatible con la de proyectos muy </a:t>
            </a:r>
            <a:r>
              <a:rPr lang="es-ES" dirty="0" err="1" smtClean="0"/>
              <a:t>estendidos</a:t>
            </a:r>
            <a:r>
              <a:rPr lang="es-ES" dirty="0" smtClean="0"/>
              <a:t> como OpenStreetMap y con la propuesta por las Directrices Técnicas INSPIRE para servicios de visualización.  </a:t>
            </a:r>
          </a:p>
          <a:p>
            <a:endParaRPr lang="es-ES" u="sng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cs typeface="Aharoni" pitchFamily="2" charset="-79"/>
              </a:rPr>
              <a:t>Implementación de los Servicios OGC en América Latina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Esperamos que se extienda más el uso de los servicios WMTS, que salvo en casos de frecuencia muy alta de actualización, constituyen una excelente solución para disminuir y estabilizar el tiempo de respuesta de un WMS. 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4524478" y="5547571"/>
            <a:ext cx="4619522" cy="1310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buSzPct val="90000"/>
              <a:buFont typeface="Wingdings" pitchFamily="2" charset="2"/>
              <a:buNone/>
            </a:pPr>
            <a:r>
              <a:rPr kumimoji="0" lang="es-ES" sz="1600" dirty="0" smtClean="0">
                <a:solidFill>
                  <a:schemeClr val="bg1"/>
                </a:solidFill>
                <a:latin typeface="Myriad Pro Light" pitchFamily="34" charset="0"/>
              </a:rPr>
              <a:t>Guadalupe Cano Cavanillas</a:t>
            </a:r>
            <a:r>
              <a:rPr kumimoji="0" lang="es-ES" sz="1600" dirty="0">
                <a:solidFill>
                  <a:schemeClr val="bg1"/>
                </a:solidFill>
                <a:latin typeface="Myriad Pro Light" pitchFamily="34" charset="0"/>
              </a:rPr>
              <a:t/>
            </a:r>
            <a:br>
              <a:rPr kumimoji="0" lang="es-ES" sz="1600" dirty="0">
                <a:solidFill>
                  <a:schemeClr val="bg1"/>
                </a:solidFill>
                <a:latin typeface="Myriad Pro Light" pitchFamily="34" charset="0"/>
              </a:rPr>
            </a:br>
            <a:r>
              <a:rPr kumimoji="0" lang="es-ES" sz="1600" dirty="0" smtClean="0">
                <a:solidFill>
                  <a:schemeClr val="bg1"/>
                </a:solidFill>
                <a:latin typeface="Myriad Pro Light" pitchFamily="34" charset="0"/>
              </a:rPr>
              <a:t>Centro Nacional de Información Geográfica </a:t>
            </a:r>
            <a:r>
              <a:rPr kumimoji="0" lang="es-ES" sz="1600" dirty="0">
                <a:solidFill>
                  <a:schemeClr val="bg1"/>
                </a:solidFill>
                <a:latin typeface="Myriad Pro Light" pitchFamily="34" charset="0"/>
              </a:rPr>
              <a:t/>
            </a:r>
            <a:br>
              <a:rPr kumimoji="0" lang="es-ES" sz="1600" dirty="0">
                <a:solidFill>
                  <a:schemeClr val="bg1"/>
                </a:solidFill>
                <a:latin typeface="Myriad Pro Light" pitchFamily="34" charset="0"/>
              </a:rPr>
            </a:br>
            <a:r>
              <a:rPr kumimoji="0" lang="es-ES" sz="1600" dirty="0" smtClean="0">
                <a:solidFill>
                  <a:schemeClr val="bg1"/>
                </a:solidFill>
                <a:latin typeface="Myriad Pro Light" pitchFamily="34" charset="0"/>
              </a:rPr>
              <a:t>Instituto Geográfico Nacional </a:t>
            </a:r>
          </a:p>
          <a:p>
            <a:pPr eaLnBrk="0" hangingPunct="0">
              <a:buSzPct val="90000"/>
              <a:buFont typeface="Wingdings" pitchFamily="2" charset="2"/>
              <a:buNone/>
            </a:pPr>
            <a:r>
              <a:rPr kumimoji="0" lang="es-ES" sz="1600" dirty="0" smtClean="0">
                <a:solidFill>
                  <a:schemeClr val="bg1"/>
                </a:solidFill>
                <a:latin typeface="Myriad Pro Light" pitchFamily="34" charset="0"/>
              </a:rPr>
              <a:t>Guadalupe.cano@cnig.es</a:t>
            </a:r>
            <a:endParaRPr kumimoji="0" lang="es-ES" sz="1600" dirty="0">
              <a:solidFill>
                <a:schemeClr val="bg1"/>
              </a:solidFill>
              <a:latin typeface="Myriad Pro Light" pitchFamily="34" charset="0"/>
            </a:endParaRPr>
          </a:p>
        </p:txBody>
      </p:sp>
      <p:sp>
        <p:nvSpPr>
          <p:cNvPr id="4" name="Rectangle 20"/>
          <p:cNvSpPr>
            <a:spLocks noChangeAspect="1" noChangeArrowheads="1"/>
          </p:cNvSpPr>
          <p:nvPr/>
        </p:nvSpPr>
        <p:spPr bwMode="auto">
          <a:xfrm>
            <a:off x="2606722" y="4047482"/>
            <a:ext cx="6289448" cy="970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0" lang="en-US" sz="3200" dirty="0" smtClean="0">
                <a:solidFill>
                  <a:schemeClr val="bg1"/>
                </a:solidFill>
                <a:latin typeface="Verdana" pitchFamily="34" charset="0"/>
              </a:rPr>
              <a:t>Gracias por vuestra atención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0005&quot;&gt;&lt;property id=&quot;20148&quot; value=&quot;5&quot;/&gt;&lt;property id=&quot;20300&quot; value=&quot;Slide 2 - &amp;quot;Index&amp;quot;&quot;/&gt;&lt;property id=&quot;20307&quot; value=&quot;343&quot;/&gt;&lt;/object&gt;&lt;object type=&quot;3&quot; unique_id=&quot;10006&quot;&gt;&lt;property id=&quot;20148&quot; value=&quot;5&quot;/&gt;&lt;property id=&quot;20300&quot; value=&quot;Slide 3 - &amp;quot;Access to geographical digital data&amp;quot;&quot;/&gt;&lt;property id=&quot;20307&quot; value=&quot;344&quot;/&gt;&lt;/object&gt;&lt;object type=&quot;3&quot; unique_id=&quot;10007&quot;&gt;&lt;property id=&quot;20148&quot; value=&quot;5&quot;/&gt;&lt;property id=&quot;20300&quot; value=&quot;Slide 4 - &amp;quot;Acceso a los datos geográficos digitales &amp;quot;&quot;/&gt;&lt;property id=&quot;20307&quot; value=&quot;345&quot;/&gt;&lt;/object&gt;&lt;object type=&quot;3&quot; unique_id=&quot;10008&quot;&gt;&lt;property id=&quot;20148&quot; value=&quot;5&quot;/&gt;&lt;property id=&quot;20300&quot; value=&quot;Slide 5 - &amp;quot;ORDEN FOM/956/2008, de 31 de marzo&amp;quot;&quot;/&gt;&lt;property id=&quot;20307&quot; value=&quot;346&quot;/&gt;&lt;/object&gt;&lt;object type=&quot;3&quot; unique_id=&quot;10009&quot;&gt;&lt;property id=&quot;20148&quot; value=&quot;5&quot;/&gt;&lt;property id=&quot;20300&quot; value=&quot;Slide 6&quot;/&gt;&lt;property id=&quot;20307&quot; value=&quot;347&quot;/&gt;&lt;/object&gt;&lt;object type=&quot;3&quot; unique_id=&quot;10010&quot;&gt;&lt;property id=&quot;20148&quot; value=&quot;5&quot;/&gt;&lt;property id=&quot;20300&quot; value=&quot;Slide 7 - &amp;quot;Servicio de Descarga On-line del IGN/CNIG &amp;quot;&quot;/&gt;&lt;property id=&quot;20307&quot; value=&quot;348&quot;/&gt;&lt;/object&gt;&lt;object type=&quot;3&quot; unique_id=&quot;10011&quot;&gt;&lt;property id=&quot;20148&quot; value=&quot;5&quot;/&gt;&lt;property id=&quot;20300&quot; value=&quot;Slide 8&quot;/&gt;&lt;property id=&quot;20307&quot; value=&quot;349&quot;/&gt;&lt;/object&gt;&lt;object type=&quot;3&quot; unique_id=&quot;10012&quot;&gt;&lt;property id=&quot;20148&quot; value=&quot;5&quot;/&gt;&lt;property id=&quot;20300&quot; value=&quot;Slide 9&quot;/&gt;&lt;property id=&quot;20307&quot; value=&quot;350&quot;/&gt;&lt;/object&gt;&lt;object type=&quot;3&quot; unique_id=&quot;10013&quot;&gt;&lt;property id=&quot;20148&quot; value=&quot;5&quot;/&gt;&lt;property id=&quot;20300&quot; value=&quot;Slide 10&quot;/&gt;&lt;property id=&quot;20307&quot; value=&quot;351&quot;/&gt;&lt;/object&gt;&lt;object type=&quot;3&quot; unique_id=&quot;10014&quot;&gt;&lt;property id=&quot;20148&quot; value=&quot;5&quot;/&gt;&lt;property id=&quot;20300&quot; value=&quot;Slide 11&quot;/&gt;&lt;property id=&quot;20307&quot; value=&quot;352&quot;/&gt;&lt;/object&gt;&lt;object type=&quot;3&quot; unique_id=&quot;10015&quot;&gt;&lt;property id=&quot;20148&quot; value=&quot;5&quot;/&gt;&lt;property id=&quot;20300&quot; value=&quot;Slide 12&quot;/&gt;&lt;property id=&quot;20307&quot; value=&quot;353&quot;/&gt;&lt;/object&gt;&lt;object type=&quot;3&quot; unique_id=&quot;10016&quot;&gt;&lt;property id=&quot;20148&quot; value=&quot;5&quot;/&gt;&lt;property id=&quot;20300&quot; value=&quot;Slide 13&quot;/&gt;&lt;property id=&quot;20307&quot; value=&quot;354&quot;/&gt;&lt;/object&gt;&lt;object type=&quot;3&quot; unique_id=&quot;10017&quot;&gt;&lt;property id=&quot;20148&quot; value=&quot;5&quot;/&gt;&lt;property id=&quot;20300&quot; value=&quot;Slide 14&quot;/&gt;&lt;property id=&quot;20307&quot; value=&quot;355&quot;/&gt;&lt;/object&gt;&lt;object type=&quot;3&quot; unique_id=&quot;10018&quot;&gt;&lt;property id=&quot;20148&quot; value=&quot;5&quot;/&gt;&lt;property id=&quot;20300&quot; value=&quot;Slide 15 - &amp;quot;Directiva INSPIRE&amp;quot;&quot;/&gt;&lt;property id=&quot;20307&quot; value=&quot;356&quot;/&gt;&lt;/object&gt;&lt;object type=&quot;3&quot; unique_id=&quot;10019&quot;&gt;&lt;property id=&quot;20148&quot; value=&quot;5&quot;/&gt;&lt;property id=&quot;20300&quot; value=&quot;Slide 16&quot;/&gt;&lt;property id=&quot;20307&quot; value=&quot;357&quot;/&gt;&lt;/object&gt;&lt;object type=&quot;3&quot; unique_id=&quot;10020&quot;&gt;&lt;property id=&quot;20148&quot; value=&quot;5&quot;/&gt;&lt;property id=&quot;20300&quot; value=&quot;Slide 17 - &amp;quot; ¿A qué se aplica INSPIRE?&amp;quot;&quot;/&gt;&lt;property id=&quot;20307&quot; value=&quot;358&quot;/&gt;&lt;/object&gt;&lt;object type=&quot;3&quot; unique_id=&quot;10021&quot;&gt;&lt;property id=&quot;20148&quot; value=&quot;5&quot;/&gt;&lt;property id=&quot;20300&quot; value=&quot;Slide 18&quot;/&gt;&lt;property id=&quot;20307&quot; value=&quot;359&quot;/&gt;&lt;/object&gt;&lt;object type=&quot;3&quot; unique_id=&quot;10022&quot;&gt;&lt;property id=&quot;20148&quot; value=&quot;5&quot;/&gt;&lt;property id=&quot;20300&quot; value=&quot;Slide 19&quot;/&gt;&lt;property id=&quot;20307&quot; value=&quot;360&quot;/&gt;&lt;/object&gt;&lt;object type=&quot;3&quot; unique_id=&quot;10023&quot;&gt;&lt;property id=&quot;20148&quot; value=&quot;5&quot;/&gt;&lt;property id=&quot;20300&quot; value=&quot;Slide 20 - &amp;quot; ¿A qué obliga?&amp;quot;&quot;/&gt;&lt;property id=&quot;20307&quot; value=&quot;361&quot;/&gt;&lt;/object&gt;&lt;object type=&quot;3&quot; unique_id=&quot;10024&quot;&gt;&lt;property id=&quot;20148&quot; value=&quot;5&quot;/&gt;&lt;property id=&quot;20300&quot; value=&quot;Slide 21 - &amp;quot;Desarrollo normativo de la Directiva INSPIRE = Normas de ejecución&amp;quot;&quot;/&gt;&lt;property id=&quot;20307&quot; value=&quot;362&quot;/&gt;&lt;/object&gt;&lt;object type=&quot;3&quot; unique_id=&quot;10025&quot;&gt;&lt;property id=&quot;20148&quot; value=&quot;5&quot;/&gt;&lt;property id=&quot;20300&quot; value=&quot;Slide 22&quot;/&gt;&lt;property id=&quot;20307&quot; value=&quot;363&quot;/&gt;&lt;/object&gt;&lt;object type=&quot;3&quot; unique_id=&quot;10026&quot;&gt;&lt;property id=&quot;20148&quot; value=&quot;5&quot;/&gt;&lt;property id=&quot;20300&quot; value=&quot;Slide 23&quot;/&gt;&lt;property id=&quot;20307&quot; value=&quot;364&quot;/&gt;&lt;/object&gt;&lt;object type=&quot;3&quot; unique_id=&quot;10027&quot;&gt;&lt;property id=&quot;20148&quot; value=&quot;5&quot;/&gt;&lt;property id=&quot;20300&quot; value=&quot;Slide 24 - &amp;quot;Desarrollo de las Normas de Ejecución de la Directiva INSPIRE&amp;quot;&quot;/&gt;&lt;property id=&quot;20307&quot; value=&quot;365&quot;/&gt;&lt;/object&gt;&lt;object type=&quot;3&quot; unique_id=&quot;10028&quot;&gt;&lt;property id=&quot;20148&quot; value=&quot;5&quot;/&gt;&lt;property id=&quot;20300&quot; value=&quot;Slide 25 - &amp;quot;Desarrollo de las Normas de Ejecución de la Directiva INSPIRE&amp;quot;&quot;/&gt;&lt;property id=&quot;20307&quot; value=&quot;366&quot;/&gt;&lt;/object&gt;&lt;object type=&quot;3&quot; unique_id=&quot;10029&quot;&gt;&lt;property id=&quot;20148&quot; value=&quot;5&quot;/&gt;&lt;property id=&quot;20300&quot; value=&quot;Slide 26 - &amp;quot;Desarrollo de las Normas de Ejecución de la Directiva INSPIRE&amp;quot;&quot;/&gt;&lt;property id=&quot;20307&quot; value=&quot;367&quot;/&gt;&lt;/object&gt;&lt;object type=&quot;3&quot; unique_id=&quot;10030&quot;&gt;&lt;property id=&quot;20148&quot; value=&quot;5&quot;/&gt;&lt;property id=&quot;20300&quot; value=&quot;Slide 27 - &amp;quot; LMO y SDIC españolas&amp;quot;&quot;/&gt;&lt;property id=&quot;20307&quot; value=&quot;368&quot;/&gt;&lt;/object&gt;&lt;object type=&quot;3&quot; unique_id=&quot;10031&quot;&gt;&lt;property id=&quot;20148&quot; value=&quot;5&quot;/&gt;&lt;property id=&quot;20300&quot; value=&quot;Slide 28 - &amp;quot;&amp;#x0D;&amp;#x0A;&amp;quot;&quot;/&gt;&lt;property id=&quot;20307&quot; value=&quot;369&quot;/&gt;&lt;/object&gt;&lt;object type=&quot;3&quot; unique_id=&quot;10032&quot;&gt;&lt;property id=&quot;20148&quot; value=&quot;5&quot;/&gt;&lt;property id=&quot;20300&quot; value=&quot;Slide 29 - &amp;quot;Normas Ejecución (Reglas de Implementación): &amp;quot;&quot;/&gt;&lt;property id=&quot;20307&quot; value=&quot;370&quot;/&gt;&lt;/object&gt;&lt;object type=&quot;3&quot; unique_id=&quot;10033&quot;&gt;&lt;property id=&quot;20148&quot; value=&quot;5&quot;/&gt;&lt;property id=&quot;20300&quot; value=&quot;Slide 30 - &amp;quot; Normas Ejecución (Reglas de Implementación): &amp;quot;&quot;/&gt;&lt;property id=&quot;20307&quot; value=&quot;371&quot;/&gt;&lt;/object&gt;&lt;object type=&quot;3&quot; unique_id=&quot;10034&quot;&gt;&lt;property id=&quot;20148&quot; value=&quot;5&quot;/&gt;&lt;property id=&quot;20300&quot; value=&quot;Slide 31 - &amp;quot; Reglamento de Metadatos&amp;quot;&quot;/&gt;&lt;property id=&quot;20307&quot; value=&quot;372&quot;/&gt;&lt;/object&gt;&lt;object type=&quot;3&quot; unique_id=&quot;10035&quot;&gt;&lt;property id=&quot;20148&quot; value=&quot;5&quot;/&gt;&lt;property id=&quot;20300&quot; value=&quot;Slide 32 - &amp;quot; Reglamento de seguimiento e informes&amp;quot;&quot;/&gt;&lt;property id=&quot;20307&quot; value=&quot;373&quot;/&gt;&lt;/object&gt;&lt;object type=&quot;3&quot; unique_id=&quot;10036&quot;&gt;&lt;property id=&quot;20148&quot; value=&quot;5&quot;/&gt;&lt;property id=&quot;20300&quot; value=&quot;Slide 33 - &amp;quot; Reglamento de compartición de datos&amp;quot;&quot;/&gt;&lt;property id=&quot;20307&quot; value=&quot;374&quot;/&gt;&lt;/object&gt;&lt;object type=&quot;3&quot; unique_id=&quot;10037&quot;&gt;&lt;property id=&quot;20148&quot; value=&quot;5&quot;/&gt;&lt;property id=&quot;20300&quot; value=&quot;Slide 34 - &amp;quot; Reglamento de Servicios en red (Network Service)&amp;quot;&quot;/&gt;&lt;property id=&quot;20307&quot; value=&quot;375&quot;/&gt;&lt;/object&gt;&lt;object type=&quot;3&quot; unique_id=&quot;10038&quot;&gt;&lt;property id=&quot;20148&quot; value=&quot;5&quot;/&gt;&lt;property id=&quot;20300&quot; value=&quot;Slide 35 - &amp;quot;Reglamento de  Interoperabilidad de datos y servicios &amp;quot;&quot;/&gt;&lt;property id=&quot;20307&quot; value=&quot;376&quot;/&gt;&lt;/object&gt;&lt;object type=&quot;3&quot; unique_id=&quot;10039&quot;&gt;&lt;property id=&quot;20148&quot; value=&quot;5&quot;/&gt;&lt;property id=&quot;20300&quot; value=&quot;Slide 36&quot;/&gt;&lt;property id=&quot;20307&quot; value=&quot;377&quot;/&gt;&lt;/object&gt;&lt;object type=&quot;3&quot; unique_id=&quot;10040&quot;&gt;&lt;property id=&quot;20148&quot; value=&quot;5&quot;/&gt;&lt;property id=&quot;20300&quot; value=&quot;Slide 37&quot;/&gt;&lt;property id=&quot;20307&quot; value=&quot;378&quot;/&gt;&lt;/object&gt;&lt;object type=&quot;3&quot; unique_id=&quot;10041&quot;&gt;&lt;property id=&quot;20148&quot; value=&quot;5&quot;/&gt;&lt;property id=&quot;20300&quot; value=&quot;Slide 38&quot;/&gt;&lt;property id=&quot;20307&quot; value=&quot;379&quot;/&gt;&lt;/object&gt;&lt;object type=&quot;3&quot; unique_id=&quot;10042&quot;&gt;&lt;property id=&quot;20148&quot; value=&quot;5&quot;/&gt;&lt;property id=&quot;20300&quot; value=&quot;Slide 39&quot;/&gt;&lt;property id=&quot;20307&quot; value=&quot;380&quot;/&gt;&lt;/object&gt;&lt;object type=&quot;3&quot; unique_id=&quot;10043&quot;&gt;&lt;property id=&quot;20148&quot; value=&quot;5&quot;/&gt;&lt;property id=&quot;20300&quot; value=&quot;Slide 40 - &amp;quot;Reglamento&amp;quot;&quot;/&gt;&lt;property id=&quot;20307&quot; value=&quot;381&quot;/&gt;&lt;/object&gt;&lt;object type=&quot;3&quot; unique_id=&quot;10044&quot;&gt;&lt;property id=&quot;20148&quot; value=&quot;5&quot;/&gt;&lt;property id=&quot;20300&quot; value=&quot;Slide 41 - &amp;quot;Reglamento&amp;quot;&quot;/&gt;&lt;property id=&quot;20307&quot; value=&quot;382&quot;/&gt;&lt;/object&gt;&lt;object type=&quot;3&quot; unique_id=&quot;10045&quot;&gt;&lt;property id=&quot;20148&quot; value=&quot;5&quot;/&gt;&lt;property id=&quot;20300&quot; value=&quot;Slide 42&quot;/&gt;&lt;property id=&quot;20307&quot; value=&quot;383&quot;/&gt;&lt;/object&gt;&lt;object type=&quot;3&quot; unique_id=&quot;10046&quot;&gt;&lt;property id=&quot;20148&quot; value=&quot;5&quot;/&gt;&lt;property id=&quot;20300&quot; value=&quot;Slide 43&quot;/&gt;&lt;property id=&quot;20307&quot; value=&quot;384&quot;/&gt;&lt;/object&gt;&lt;object type=&quot;3&quot; unique_id=&quot;10047&quot;&gt;&lt;property id=&quot;20148&quot; value=&quot;5&quot;/&gt;&lt;property id=&quot;20300&quot; value=&quot;Slide 44&quot;/&gt;&lt;property id=&quot;20307&quot; value=&quot;385&quot;/&gt;&lt;/object&gt;&lt;object type=&quot;3&quot; unique_id=&quot;10048&quot;&gt;&lt;property id=&quot;20148&quot; value=&quot;5&quot;/&gt;&lt;property id=&quot;20300&quot; value=&quot;Slide 45&quot;/&gt;&lt;property id=&quot;20307&quot; value=&quot;386&quot;/&gt;&lt;/object&gt;&lt;object type=&quot;3&quot; unique_id=&quot;10049&quot;&gt;&lt;property id=&quot;20148&quot; value=&quot;5&quot;/&gt;&lt;property id=&quot;20300&quot; value=&quot;Slide 46 - &amp;quot;Transposición Directiva INSPIRE en España = LISIGE&amp;quot;&quot;/&gt;&lt;property id=&quot;20307&quot; value=&quot;387&quot;/&gt;&lt;/object&gt;&lt;object type=&quot;3&quot; unique_id=&quot;10050&quot;&gt;&lt;property id=&quot;20148&quot; value=&quot;5&quot;/&gt;&lt;property id=&quot;20300&quot; value=&quot;Slide 47&quot;/&gt;&lt;property id=&quot;20307&quot; value=&quot;388&quot;/&gt;&lt;/object&gt;&lt;object type=&quot;3&quot; unique_id=&quot;10051&quot;&gt;&lt;property id=&quot;20148&quot; value=&quot;5&quot;/&gt;&lt;property id=&quot;20300&quot; value=&quot;Slide 48&quot;/&gt;&lt;property id=&quot;20307&quot; value=&quot;389&quot;/&gt;&lt;/object&gt;&lt;object type=&quot;3&quot; unique_id=&quot;10052&quot;&gt;&lt;property id=&quot;20148&quot; value=&quot;5&quot;/&gt;&lt;property id=&quot;20300&quot; value=&quot;Slide 49&quot;/&gt;&lt;property id=&quot;20307&quot; value=&quot;390&quot;/&gt;&lt;/object&gt;&lt;object type=&quot;3&quot; unique_id=&quot;10053&quot;&gt;&lt;property id=&quot;20148&quot; value=&quot;5&quot;/&gt;&lt;property id=&quot;20300&quot; value=&quot;Slide 50 - &amp;quot;Artículo 6. LISIGE: Normas a cumplir en el establecimiento de infraestructuras y servicios de información geográfi&quot;/&gt;&lt;property id=&quot;20307&quot; value=&quot;391&quot;/&gt;&lt;/object&gt;&lt;object type=&quot;3&quot; unique_id=&quot;10054&quot;&gt;&lt;property id=&quot;20148&quot; value=&quot;5&quot;/&gt;&lt;property id=&quot;20300&quot; value=&quot;Slide 51&quot;/&gt;&lt;property id=&quot;20307&quot; value=&quot;392&quot;/&gt;&lt;/object&gt;&lt;object type=&quot;3&quot; unique_id=&quot;10055&quot;&gt;&lt;property id=&quot;20148&quot; value=&quot;5&quot;/&gt;&lt;property id=&quot;20300&quot; value=&quot;Slide 52&quot;/&gt;&lt;property id=&quot;20307&quot; value=&quot;393&quot;/&gt;&lt;/object&gt;&lt;object type=&quot;3&quot; unique_id=&quot;10056&quot;&gt;&lt;property id=&quot;20148&quot; value=&quot;5&quot;/&gt;&lt;property id=&quot;20300&quot; value=&quot;Slide 53 - &amp;quot;GRUPOS TÉCNICOS DE TRABAJO  ESTABLECIDOS&amp;quot;&quot;/&gt;&lt;property id=&quot;20307&quot; value=&quot;394&quot;/&gt;&lt;/object&gt;&lt;object type=&quot;3&quot; unique_id=&quot;10057&quot;&gt;&lt;property id=&quot;20148&quot; value=&quot;5&quot;/&gt;&lt;property id=&quot;20300&quot; value=&quot;Slide 54 - &amp;quot;&amp;#x0D;&amp;#x0A;Objetivos comunes de los GTT de Normas que aseguren la interoperabilidad de los conjuntos y los servicios de dato&quot;/&gt;&lt;property id=&quot;20307&quot; value=&quot;395&quot;/&gt;&lt;/object&gt;&lt;object type=&quot;3&quot; unique_id=&quot;10058&quot;&gt;&lt;property id=&quot;20148&quot; value=&quot;5&quot;/&gt;&lt;property id=&quot;20300&quot; value=&quot;Slide 55 - &amp;quot; Adopción de INSPIRE  LISIGE&amp;quot;&quot;/&gt;&lt;property id=&quot;20307&quot; value=&quot;396&quot;/&gt;&lt;/object&gt;&lt;object type=&quot;3&quot; unique_id=&quot;10059&quot;&gt;&lt;property id=&quot;20148&quot; value=&quot;5&quot;/&gt;&lt;property id=&quot;20300&quot; value=&quot;Slide 56&quot;/&gt;&lt;property id=&quot;20307&quot; value=&quot;397&quot;/&gt;&lt;/object&gt;&lt;object type=&quot;3&quot; unique_id=&quot;10060&quot;&gt;&lt;property id=&quot;20148&quot; value=&quot;5&quot;/&gt;&lt;property id=&quot;20300&quot; value=&quot;Slide 57&quot;/&gt;&lt;property id=&quot;20307&quot; value=&quot;398&quot;/&gt;&lt;/object&gt;&lt;object type=&quot;3&quot; unique_id=&quot;10061&quot;&gt;&lt;property id=&quot;20148&quot; value=&quot;5&quot;/&gt;&lt;property id=&quot;20300&quot; value=&quot;Slide 58&quot;/&gt;&lt;property id=&quot;20307&quot; value=&quot;399&quot;/&gt;&lt;/object&gt;&lt;object type=&quot;3&quot; unique_id=&quot;10062&quot;&gt;&lt;property id=&quot;20148&quot; value=&quot;5&quot;/&gt;&lt;property id=&quot;20300&quot; value=&quot;Slide 59&quot;/&gt;&lt;property id=&quot;20307&quot; value=&quot;400&quot;/&gt;&lt;/object&gt;&lt;object type=&quot;3&quot; unique_id=&quot;10063&quot;&gt;&lt;property id=&quot;20148&quot; value=&quot;5&quot;/&gt;&lt;property id=&quot;20300&quot; value=&quot;Slide 60 - &amp;quot;Servicios web OGC accesibles del IGN, desde el Geoportal IDEE&amp;quot;&quot;/&gt;&lt;property id=&quot;20307&quot; value=&quot;401&quot;/&gt;&lt;/object&gt;&lt;object type=&quot;3&quot; unique_id=&quot;10064&quot;&gt;&lt;property id=&quot;20148&quot; value=&quot;5&quot;/&gt;&lt;property id=&quot;20300&quot; value=&quot;Slide 61&quot;/&gt;&lt;property id=&quot;20307&quot; value=&quot;402&quot;/&gt;&lt;/object&gt;&lt;object type=&quot;3&quot; unique_id=&quot;10065&quot;&gt;&lt;property id=&quot;20148&quot; value=&quot;5&quot;/&gt;&lt;property id=&quot;20300&quot; value=&quot;Slide 62&quot;/&gt;&lt;property id=&quot;20307&quot; value=&quot;403&quot;/&gt;&lt;/object&gt;&lt;object type=&quot;3&quot; unique_id=&quot;10066&quot;&gt;&lt;property id=&quot;20148&quot; value=&quot;5&quot;/&gt;&lt;property id=&quot;20300&quot; value=&quot;Slide 63 - &amp;quot;Ejemplo de cadena de servicios web  interoperables a partir de la IDEE&amp;quot;&quot;/&gt;&lt;property id=&quot;20307&quot; value=&quot;404&quot;/&gt;&lt;/object&gt;&lt;object type=&quot;3&quot; unique_id=&quot;10067&quot;&gt;&lt;property id=&quot;20148&quot; value=&quot;5&quot;/&gt;&lt;property id=&quot;20300&quot; value=&quot;Slide 64&quot;/&gt;&lt;property id=&quot;20307&quot; value=&quot;405&quot;/&gt;&lt;/object&gt;&lt;object type=&quot;3&quot; unique_id=&quot;10068&quot;&gt;&lt;property id=&quot;20148&quot; value=&quot;5&quot;/&gt;&lt;property id=&quot;20300&quot; value=&quot;Slide 65&quot;/&gt;&lt;property id=&quot;20307&quot; value=&quot;406&quot;/&gt;&lt;/object&gt;&lt;object type=&quot;3&quot; unique_id=&quot;10069&quot;&gt;&lt;property id=&quot;20148&quot; value=&quot;5&quot;/&gt;&lt;property id=&quot;20300&quot; value=&quot;Slide 66 - &amp;quot;CONCLUSIÓN&amp;quot;&quot;/&gt;&lt;property id=&quot;20307&quot; value=&quot;407&quot;/&gt;&lt;/object&gt;&lt;object type=&quot;3&quot; unique_id=&quot;10070&quot;&gt;&lt;property id=&quot;20148&quot; value=&quot;5&quot;/&gt;&lt;property id=&quot;20300&quot; value=&quot;Slide 67 - &amp;quot; Título de la diapositiva&amp;quot;&quot;/&gt;&lt;property id=&quot;20307&quot; value=&quot;341&quot;/&gt;&lt;/object&gt;&lt;object type=&quot;3&quot; unique_id=&quot;10071&quot;&gt;&lt;property id=&quot;20148&quot; value=&quot;5&quot;/&gt;&lt;property id=&quot;20300&quot; value=&quot;Slide 68 - &amp;quot;Muchas gracias&amp;#x0D;&amp;#x0A;¿Preguntas?&amp;quot;&quot;/&gt;&lt;property id=&quot;20307&quot; value=&quot;342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Pintura Sumi">
  <a:themeElements>
    <a:clrScheme name="Pintura Sumi 1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64660"/>
      </a:accent4>
      <a:accent5>
        <a:srgbClr val="D0E2E9"/>
      </a:accent5>
      <a:accent6>
        <a:srgbClr val="B4B4CA"/>
      </a:accent6>
      <a:hlink>
        <a:srgbClr val="9595FF"/>
      </a:hlink>
      <a:folHlink>
        <a:srgbClr val="8888AE"/>
      </a:folHlink>
    </a:clrScheme>
    <a:fontScheme name="Pintura Sumi">
      <a:majorFont>
        <a:latin typeface="Tahoma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intura Sumi 1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tura Sumi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tura Sumi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tura Sumi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B8AAB8"/>
        </a:accent5>
        <a:accent6>
          <a:srgbClr val="CD96B1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tura Sumi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tura Sumi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tura Sumi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C:\Archivos de programa\Microsoft Office\Plantillas\IGN3.pot</Template>
  <TotalTime>4324</TotalTime>
  <Words>367</Words>
  <Application>Microsoft Office PowerPoint</Application>
  <PresentationFormat>Presentación en pantalla (4:3)</PresentationFormat>
  <Paragraphs>60</Paragraphs>
  <Slides>17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7" baseType="lpstr">
      <vt:lpstr>Aharoni</vt:lpstr>
      <vt:lpstr>Arial Narrow</vt:lpstr>
      <vt:lpstr>Courier New</vt:lpstr>
      <vt:lpstr>Garamond</vt:lpstr>
      <vt:lpstr>Myriad Pro Light</vt:lpstr>
      <vt:lpstr>Tahoma</vt:lpstr>
      <vt:lpstr>Times New Roman</vt:lpstr>
      <vt:lpstr>Verdana</vt:lpstr>
      <vt:lpstr>Wingdings</vt:lpstr>
      <vt:lpstr>Pintura Sumi</vt:lpstr>
      <vt:lpstr>Presentación de PowerPoint</vt:lpstr>
      <vt:lpstr>Implementación de los Servicios OGC en América Latina</vt:lpstr>
      <vt:lpstr>Presentación de PowerPoint</vt:lpstr>
      <vt:lpstr>Presentación de PowerPoint</vt:lpstr>
      <vt:lpstr>Presentación de PowerPoint</vt:lpstr>
      <vt:lpstr>Presentación de PowerPoint</vt:lpstr>
      <vt:lpstr>Implementación de los Servicios OGC en América Latina</vt:lpstr>
      <vt:lpstr>Implementación de los Servicios OGC en América Latina</vt:lpstr>
      <vt:lpstr>Implementación de los Servicios OGC en América Latina</vt:lpstr>
      <vt:lpstr>Implementación de los Servicios OGC en América Latina</vt:lpstr>
      <vt:lpstr>Implementación de los Servicios OGC en América Latina</vt:lpstr>
      <vt:lpstr>Implementación de los Servicios OGC en América Latina</vt:lpstr>
      <vt:lpstr>Implementación de los Servicios OGC en América Latina</vt:lpstr>
      <vt:lpstr>Implementación de los Servicios OGC en América Latina</vt:lpstr>
      <vt:lpstr>Implementación de los Servicios OGC en América Latina</vt:lpstr>
      <vt:lpstr>Implementación de los Servicios OGC en América Latina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(Garamond 54)</dc:title>
  <dc:creator>Camacho Arranz Elena</dc:creator>
  <cp:lastModifiedBy>Imma Serra</cp:lastModifiedBy>
  <cp:revision>426</cp:revision>
  <cp:lastPrinted>1601-01-01T00:00:00Z</cp:lastPrinted>
  <dcterms:created xsi:type="dcterms:W3CDTF">2005-04-21T19:06:47Z</dcterms:created>
  <dcterms:modified xsi:type="dcterms:W3CDTF">2025-12-01T16:29:09Z</dcterms:modified>
</cp:coreProperties>
</file>