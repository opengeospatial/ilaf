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bookmarkIdSeed="2">
  <p:sldMasterIdLst>
    <p:sldMasterId id="2147483654" r:id="rId1"/>
  </p:sldMasterIdLst>
  <p:notesMasterIdLst>
    <p:notesMasterId r:id="rId15"/>
  </p:notesMasterIdLst>
  <p:handoutMasterIdLst>
    <p:handoutMasterId r:id="rId16"/>
  </p:handoutMasterIdLst>
  <p:sldIdLst>
    <p:sldId id="256" r:id="rId2"/>
    <p:sldId id="351" r:id="rId3"/>
    <p:sldId id="288" r:id="rId4"/>
    <p:sldId id="365" r:id="rId5"/>
    <p:sldId id="364" r:id="rId6"/>
    <p:sldId id="366" r:id="rId7"/>
    <p:sldId id="367" r:id="rId8"/>
    <p:sldId id="368" r:id="rId9"/>
    <p:sldId id="369" r:id="rId10"/>
    <p:sldId id="371" r:id="rId11"/>
    <p:sldId id="370" r:id="rId12"/>
    <p:sldId id="372" r:id="rId13"/>
    <p:sldId id="362" r:id="rId14"/>
  </p:sldIdLst>
  <p:sldSz cx="9144000" cy="6858000" type="screen4x3"/>
  <p:notesSz cx="6904038" cy="9220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000" b="1" kern="1200">
        <a:solidFill>
          <a:schemeClr val="tx1"/>
        </a:solidFill>
        <a:latin typeface="CG Times"/>
        <a:ea typeface="MS PGothic" pitchFamily="34" charset="-128"/>
        <a:cs typeface="Arial" pitchFamily="34" charset="0"/>
      </a:defRPr>
    </a:lvl1pPr>
    <a:lvl2pPr marL="457200" algn="l" rtl="0" fontAlgn="base">
      <a:spcBef>
        <a:spcPct val="0"/>
      </a:spcBef>
      <a:spcAft>
        <a:spcPct val="0"/>
      </a:spcAft>
      <a:defRPr sz="1000" b="1" kern="1200">
        <a:solidFill>
          <a:schemeClr val="tx1"/>
        </a:solidFill>
        <a:latin typeface="CG Times"/>
        <a:ea typeface="MS PGothic" pitchFamily="34" charset="-128"/>
        <a:cs typeface="Arial" pitchFamily="34" charset="0"/>
      </a:defRPr>
    </a:lvl2pPr>
    <a:lvl3pPr marL="914400" algn="l" rtl="0" fontAlgn="base">
      <a:spcBef>
        <a:spcPct val="0"/>
      </a:spcBef>
      <a:spcAft>
        <a:spcPct val="0"/>
      </a:spcAft>
      <a:defRPr sz="1000" b="1" kern="1200">
        <a:solidFill>
          <a:schemeClr val="tx1"/>
        </a:solidFill>
        <a:latin typeface="CG Times"/>
        <a:ea typeface="MS PGothic" pitchFamily="34" charset="-128"/>
        <a:cs typeface="Arial" pitchFamily="34" charset="0"/>
      </a:defRPr>
    </a:lvl3pPr>
    <a:lvl4pPr marL="1371600" algn="l" rtl="0" fontAlgn="base">
      <a:spcBef>
        <a:spcPct val="0"/>
      </a:spcBef>
      <a:spcAft>
        <a:spcPct val="0"/>
      </a:spcAft>
      <a:defRPr sz="1000" b="1" kern="1200">
        <a:solidFill>
          <a:schemeClr val="tx1"/>
        </a:solidFill>
        <a:latin typeface="CG Times"/>
        <a:ea typeface="MS PGothic" pitchFamily="34" charset="-128"/>
        <a:cs typeface="Arial" pitchFamily="34" charset="0"/>
      </a:defRPr>
    </a:lvl4pPr>
    <a:lvl5pPr marL="1828800" algn="l" rtl="0" fontAlgn="base">
      <a:spcBef>
        <a:spcPct val="0"/>
      </a:spcBef>
      <a:spcAft>
        <a:spcPct val="0"/>
      </a:spcAft>
      <a:defRPr sz="1000" b="1" kern="1200">
        <a:solidFill>
          <a:schemeClr val="tx1"/>
        </a:solidFill>
        <a:latin typeface="CG Times"/>
        <a:ea typeface="MS PGothic" pitchFamily="34" charset="-128"/>
        <a:cs typeface="Arial" pitchFamily="34" charset="0"/>
      </a:defRPr>
    </a:lvl5pPr>
    <a:lvl6pPr marL="2286000" algn="l" defTabSz="914400" rtl="0" eaLnBrk="1" latinLnBrk="0" hangingPunct="1">
      <a:defRPr sz="1000" b="1" kern="1200">
        <a:solidFill>
          <a:schemeClr val="tx1"/>
        </a:solidFill>
        <a:latin typeface="CG Times"/>
        <a:ea typeface="MS PGothic" pitchFamily="34" charset="-128"/>
        <a:cs typeface="Arial" pitchFamily="34" charset="0"/>
      </a:defRPr>
    </a:lvl6pPr>
    <a:lvl7pPr marL="2743200" algn="l" defTabSz="914400" rtl="0" eaLnBrk="1" latinLnBrk="0" hangingPunct="1">
      <a:defRPr sz="1000" b="1" kern="1200">
        <a:solidFill>
          <a:schemeClr val="tx1"/>
        </a:solidFill>
        <a:latin typeface="CG Times"/>
        <a:ea typeface="MS PGothic" pitchFamily="34" charset="-128"/>
        <a:cs typeface="Arial" pitchFamily="34" charset="0"/>
      </a:defRPr>
    </a:lvl7pPr>
    <a:lvl8pPr marL="3200400" algn="l" defTabSz="914400" rtl="0" eaLnBrk="1" latinLnBrk="0" hangingPunct="1">
      <a:defRPr sz="1000" b="1" kern="1200">
        <a:solidFill>
          <a:schemeClr val="tx1"/>
        </a:solidFill>
        <a:latin typeface="CG Times"/>
        <a:ea typeface="MS PGothic" pitchFamily="34" charset="-128"/>
        <a:cs typeface="Arial" pitchFamily="34" charset="0"/>
      </a:defRPr>
    </a:lvl8pPr>
    <a:lvl9pPr marL="3657600" algn="l" defTabSz="914400" rtl="0" eaLnBrk="1" latinLnBrk="0" hangingPunct="1">
      <a:defRPr sz="1000" b="1" kern="1200">
        <a:solidFill>
          <a:schemeClr val="tx1"/>
        </a:solidFill>
        <a:latin typeface="CG Times"/>
        <a:ea typeface="MS PGothic" pitchFamily="34" charset="-128"/>
        <a:cs typeface="Arial" pitchFamily="34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</p:showPr>
  <p:clrMru>
    <a:srgbClr val="FF0000"/>
    <a:srgbClr val="006600"/>
    <a:srgbClr val="000066"/>
    <a:srgbClr val="FFFF99"/>
    <a:srgbClr val="969696"/>
    <a:srgbClr val="CCFFFF"/>
    <a:srgbClr val="5C0909"/>
    <a:srgbClr val="FFFFFF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34561" autoAdjust="0"/>
    <p:restoredTop sz="86444" autoAdjust="0"/>
  </p:normalViewPr>
  <p:slideViewPr>
    <p:cSldViewPr>
      <p:cViewPr>
        <p:scale>
          <a:sx n="60" d="100"/>
          <a:sy n="60" d="100"/>
        </p:scale>
        <p:origin x="-366" y="-84"/>
      </p:cViewPr>
      <p:guideLst>
        <p:guide orient="horz" pos="2112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6" d="100"/>
          <a:sy n="66" d="100"/>
        </p:scale>
        <p:origin x="0" y="0"/>
      </p:cViewPr>
      <p:guideLst/>
    </p:cSldViewPr>
  </p:notes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7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92438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t" anchorCtr="0" compatLnSpc="1">
            <a:prstTxWarp prst="textNoShape">
              <a:avLst/>
            </a:prstTxWarp>
          </a:bodyPr>
          <a:lstStyle>
            <a:lvl1pPr defTabSz="920750" eaLnBrk="0" hangingPunct="0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47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11600" y="0"/>
            <a:ext cx="2992438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t" anchorCtr="0" compatLnSpc="1">
            <a:prstTxWarp prst="textNoShape">
              <a:avLst/>
            </a:prstTxWarp>
          </a:bodyPr>
          <a:lstStyle>
            <a:lvl1pPr algn="r" defTabSz="920750" eaLnBrk="0" hangingPunct="0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47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759825"/>
            <a:ext cx="2992438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b" anchorCtr="0" compatLnSpc="1">
            <a:prstTxWarp prst="textNoShape">
              <a:avLst/>
            </a:prstTxWarp>
          </a:bodyPr>
          <a:lstStyle>
            <a:lvl1pPr defTabSz="920750" eaLnBrk="0" hangingPunct="0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47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11600" y="8759825"/>
            <a:ext cx="2992438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b" anchorCtr="0" compatLnSpc="1">
            <a:prstTxWarp prst="textNoShape">
              <a:avLst/>
            </a:prstTxWarp>
          </a:bodyPr>
          <a:lstStyle>
            <a:lvl1pPr algn="r" defTabSz="920750" eaLnBrk="0" hangingPunct="0">
              <a:defRPr sz="1200">
                <a:latin typeface="Arial" pitchFamily="34" charset="0"/>
                <a:cs typeface="+mn-cs"/>
              </a:defRPr>
            </a:lvl1pPr>
          </a:lstStyle>
          <a:p>
            <a:pPr>
              <a:defRPr/>
            </a:pPr>
            <a:fld id="{95F8594B-9A1A-45E1-9B24-86A06EFD716F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92438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t" anchorCtr="0" compatLnSpc="1">
            <a:prstTxWarp prst="textNoShape">
              <a:avLst/>
            </a:prstTxWarp>
          </a:bodyPr>
          <a:lstStyle>
            <a:lvl1pPr defTabSz="920750" eaLnBrk="0" hangingPunct="0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11600" y="0"/>
            <a:ext cx="2992438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t" anchorCtr="0" compatLnSpc="1">
            <a:prstTxWarp prst="textNoShape">
              <a:avLst/>
            </a:prstTxWarp>
          </a:bodyPr>
          <a:lstStyle>
            <a:lvl1pPr algn="r" defTabSz="920750" eaLnBrk="0" hangingPunct="0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3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7763" y="692150"/>
            <a:ext cx="4610100" cy="3457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20750" y="4379913"/>
            <a:ext cx="5062538" cy="414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0"/>
            <a:r>
              <a:rPr lang="en-US" noProof="0" smtClean="0"/>
              <a:t>Second level</a:t>
            </a:r>
          </a:p>
          <a:p>
            <a:pPr lvl="0"/>
            <a:r>
              <a:rPr lang="en-US" noProof="0" smtClean="0"/>
              <a:t>Third level</a:t>
            </a:r>
          </a:p>
          <a:p>
            <a:pPr lvl="0"/>
            <a:r>
              <a:rPr lang="en-US" noProof="0" smtClean="0"/>
              <a:t>Fourth level</a:t>
            </a:r>
          </a:p>
          <a:p>
            <a:pPr lvl="0"/>
            <a:r>
              <a:rPr lang="en-US" noProof="0" smtClean="0"/>
              <a:t>Fifth level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759825"/>
            <a:ext cx="2992438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b" anchorCtr="0" compatLnSpc="1">
            <a:prstTxWarp prst="textNoShape">
              <a:avLst/>
            </a:prstTxWarp>
          </a:bodyPr>
          <a:lstStyle>
            <a:lvl1pPr defTabSz="920750" eaLnBrk="0" hangingPunct="0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11600" y="8759825"/>
            <a:ext cx="2992438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b" anchorCtr="0" compatLnSpc="1">
            <a:prstTxWarp prst="textNoShape">
              <a:avLst/>
            </a:prstTxWarp>
          </a:bodyPr>
          <a:lstStyle>
            <a:lvl1pPr algn="r" defTabSz="920750" eaLnBrk="0" hangingPunct="0">
              <a:defRPr sz="1200">
                <a:latin typeface="Arial" pitchFamily="34" charset="0"/>
                <a:cs typeface="+mn-cs"/>
              </a:defRPr>
            </a:lvl1pPr>
          </a:lstStyle>
          <a:p>
            <a:pPr>
              <a:defRPr/>
            </a:pPr>
            <a:fld id="{AB3AEDD5-A632-4517-AA20-E22C57374F10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MS PGothic" charset="0"/>
      </a:defRPr>
    </a:lvl1pPr>
    <a:lvl2pPr marL="742950" indent="-28575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MS PGothic" charset="0"/>
      </a:defRPr>
    </a:lvl2pPr>
    <a:lvl3pPr marL="11430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MS PGothic" charset="0"/>
      </a:defRPr>
    </a:lvl3pPr>
    <a:lvl4pPr marL="16002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MS PGothic" charset="0"/>
      </a:defRPr>
    </a:lvl4pPr>
    <a:lvl5pPr marL="20574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MS PGothic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ca-E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307757-5B2B-4E17-8D44-ABF3641F88DB}" type="slidenum">
              <a:rPr lang="ca-ES" smtClean="0"/>
              <a:pPr/>
              <a:t>10</a:t>
            </a:fld>
            <a:endParaRPr lang="ca-E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ca-E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B3AEDD5-A632-4517-AA20-E22C57374F10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8"/>
          <p:cNvSpPr txBox="1">
            <a:spLocks noChangeArrowheads="1"/>
          </p:cNvSpPr>
          <p:nvPr/>
        </p:nvSpPr>
        <p:spPr bwMode="auto">
          <a:xfrm>
            <a:off x="8739188" y="214313"/>
            <a:ext cx="74612" cy="214312"/>
          </a:xfrm>
          <a:prstGeom prst="rect">
            <a:avLst/>
          </a:prstGeom>
          <a:noFill/>
          <a:ln>
            <a:noFill/>
          </a:ln>
          <a:extLst/>
        </p:spPr>
        <p:txBody>
          <a:bodyPr wrap="none" lIns="0" rIns="0">
            <a:spAutoFit/>
          </a:bodyPr>
          <a:lstStyle/>
          <a:p>
            <a:pPr eaLnBrk="0" hangingPunct="0">
              <a:defRPr/>
            </a:pPr>
            <a:r>
              <a:rPr lang="en-US" sz="800">
                <a:solidFill>
                  <a:srgbClr val="FFFFFF"/>
                </a:solidFill>
                <a:latin typeface="Arial" pitchFamily="34" charset="0"/>
                <a:cs typeface="+mn-cs"/>
              </a:rPr>
              <a:t>®</a:t>
            </a:r>
          </a:p>
        </p:txBody>
      </p:sp>
      <p:pic>
        <p:nvPicPr>
          <p:cNvPr id="5" name="Picture 10" descr="OGC header 20101220.pn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2247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11" descr="Picture 7.png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81000" y="6096000"/>
            <a:ext cx="1381125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63875" name="Rectangle 3"/>
          <p:cNvSpPr>
            <a:spLocks noGrp="1" noChangeArrowheads="1"/>
          </p:cNvSpPr>
          <p:nvPr>
            <p:ph type="ctrTitle"/>
          </p:nvPr>
        </p:nvSpPr>
        <p:spPr>
          <a:xfrm>
            <a:off x="762000" y="3276600"/>
            <a:ext cx="7772400" cy="1143000"/>
          </a:xfrm>
        </p:spPr>
        <p:txBody>
          <a:bodyPr/>
          <a:lstStyle>
            <a:lvl1pPr>
              <a:defRPr sz="3200">
                <a:latin typeface="Arial Black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463876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447800" y="4572000"/>
            <a:ext cx="6400800" cy="1371600"/>
          </a:xfrm>
        </p:spPr>
        <p:txBody>
          <a:bodyPr/>
          <a:lstStyle>
            <a:lvl1pPr marL="0" indent="0" algn="ctr">
              <a:buFontTx/>
              <a:buNone/>
              <a:defRPr sz="1800">
                <a:solidFill>
                  <a:srgbClr val="092E5C"/>
                </a:solidFill>
              </a:defRPr>
            </a:lvl1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7" name="Rectangle 2"/>
          <p:cNvSpPr>
            <a:spLocks noGrp="1" noChangeArrowheads="1"/>
          </p:cNvSpPr>
          <p:nvPr>
            <p:ph type="ftr" sz="quarter" idx="10"/>
          </p:nvPr>
        </p:nvSpPr>
        <p:spPr>
          <a:xfrm>
            <a:off x="3009900" y="6400800"/>
            <a:ext cx="3276600" cy="304800"/>
          </a:xfrm>
        </p:spPr>
        <p:txBody>
          <a:bodyPr/>
          <a:lstStyle>
            <a:lvl1pPr>
              <a:defRPr>
                <a:effectLst>
                  <a:outerShdw blurRad="38100" dist="38100" dir="2700000" algn="tl">
                    <a:srgbClr val="C0C0C0"/>
                  </a:outerShdw>
                </a:effectLst>
              </a:defRPr>
            </a:lvl1pPr>
          </a:lstStyle>
          <a:p>
            <a:pPr>
              <a:defRPr/>
            </a:pPr>
            <a:r>
              <a:rPr lang="en-US" smtClean="0"/>
              <a:t>Copyright © 2019 Open Geospatial Consortium</a:t>
            </a:r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Copyright © 2019 Open Geospatial Consortium</a:t>
            </a: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FF4F35F-AD30-46E7-94F7-810A4C2F463D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Copyright © 2019 Open Geospatial Consortium</a:t>
            </a: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263BD6C-F06F-4DEE-9842-F855BE86C328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6075" y="1279525"/>
            <a:ext cx="4152900" cy="48910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1375" y="1279525"/>
            <a:ext cx="4152900" cy="48910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Copyright © 2019 Open Geospatial Consortium</a:t>
            </a: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6C36587-890D-4806-8DE9-E3AC0E61BDD0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341438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981200"/>
            <a:ext cx="4040188" cy="4144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341438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981200"/>
            <a:ext cx="4041775" cy="4144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Copyright © 2019 Open Geospatial Consortium</a:t>
            </a:r>
            <a:endParaRPr lang="en-US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6103B9-1C88-40A6-A93F-37C42AE3D077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Copyright © 2019 Open Geospatial Consortium</a:t>
            </a: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30B55EF-B4E2-416D-A849-00FE0778B654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Copyright © 2019 Open Geospatial Consortium</a:t>
            </a:r>
            <a:endParaRPr lang="en-US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59C2EB1-A5EB-4C2E-882D-65CE941D6BEC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Copyright © 2019 Open Geospatial Consortium</a:t>
            </a: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FF7A20D-20FE-4E0B-AE9E-82718B17D58E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Copyright © 2019 Open Geospatial Consortium</a:t>
            </a: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6B28DF1-5C79-486C-8742-B70613CB57CD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Copyright © 2019 Open Geospatial Consortium</a:t>
            </a: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D83E5A4-ACBB-40D2-A347-C4F6CEED2ADF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45288" y="136525"/>
            <a:ext cx="2170112" cy="603408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31775" y="136525"/>
            <a:ext cx="6361113" cy="603408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Copyright © 2019 Open Geospatial Consortium</a:t>
            </a: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7DCE280-43D3-4AC4-942F-8FCABB00C9BB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w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5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365125" y="776288"/>
            <a:ext cx="8455025" cy="4905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628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31775" y="136525"/>
            <a:ext cx="8074025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46075" y="1279525"/>
            <a:ext cx="8458200" cy="489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62852" name="Rectangle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973388" y="6553200"/>
            <a:ext cx="32004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0" hangingPunct="0">
              <a:defRPr sz="900" b="0">
                <a:solidFill>
                  <a:srgbClr val="092E5C"/>
                </a:solidFill>
                <a:latin typeface="Arial" pitchFamily="34" charset="0"/>
                <a:cs typeface="+mn-cs"/>
              </a:defRPr>
            </a:lvl1pPr>
          </a:lstStyle>
          <a:p>
            <a:pPr>
              <a:defRPr/>
            </a:pPr>
            <a:r>
              <a:rPr lang="en-US" smtClean="0"/>
              <a:t>Copyright © 2019 Open Geospatial Consortium</a:t>
            </a:r>
            <a:endParaRPr lang="en-US"/>
          </a:p>
        </p:txBody>
      </p:sp>
      <p:sp>
        <p:nvSpPr>
          <p:cNvPr id="46285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96100" y="6553200"/>
            <a:ext cx="19050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900" b="0">
                <a:solidFill>
                  <a:srgbClr val="092E5C"/>
                </a:solidFill>
                <a:latin typeface="Arial" pitchFamily="34" charset="0"/>
                <a:cs typeface="+mn-cs"/>
              </a:defRPr>
            </a:lvl1pPr>
          </a:lstStyle>
          <a:p>
            <a:pPr>
              <a:defRPr/>
            </a:pPr>
            <a:fld id="{E70B134C-0201-4731-B624-FDB423C47ED2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  <p:sp>
        <p:nvSpPr>
          <p:cNvPr id="1031" name="Text Box 16"/>
          <p:cNvSpPr txBox="1">
            <a:spLocks noChangeArrowheads="1"/>
          </p:cNvSpPr>
          <p:nvPr/>
        </p:nvSpPr>
        <p:spPr bwMode="auto">
          <a:xfrm>
            <a:off x="333375" y="6219825"/>
            <a:ext cx="1157288" cy="609600"/>
          </a:xfrm>
          <a:prstGeom prst="rect">
            <a:avLst/>
          </a:prstGeom>
          <a:noFill/>
          <a:ln>
            <a:noFill/>
          </a:ln>
          <a:extLst/>
        </p:spPr>
        <p:txBody>
          <a:bodyPr wrap="none" lIns="0" tIns="0" rIns="0" bIns="0"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9pPr>
          </a:lstStyle>
          <a:p>
            <a:pPr>
              <a:defRPr/>
            </a:pPr>
            <a:r>
              <a:rPr lang="en-US" sz="4000" smtClean="0">
                <a:solidFill>
                  <a:schemeClr val="tx2"/>
                </a:solidFill>
                <a:latin typeface="Times New Roman" charset="0"/>
              </a:rPr>
              <a:t>OGC</a:t>
            </a:r>
          </a:p>
        </p:txBody>
      </p:sp>
      <p:sp>
        <p:nvSpPr>
          <p:cNvPr id="1032" name="Text Box 20"/>
          <p:cNvSpPr txBox="1">
            <a:spLocks noChangeArrowheads="1"/>
          </p:cNvSpPr>
          <p:nvPr/>
        </p:nvSpPr>
        <p:spPr bwMode="auto">
          <a:xfrm>
            <a:off x="1498600" y="6270625"/>
            <a:ext cx="93663" cy="244475"/>
          </a:xfrm>
          <a:prstGeom prst="rect">
            <a:avLst/>
          </a:prstGeom>
          <a:noFill/>
          <a:ln>
            <a:noFill/>
          </a:ln>
          <a:extLst/>
        </p:spPr>
        <p:txBody>
          <a:bodyPr wrap="none" lIns="0" rIns="0">
            <a:spAutoFit/>
          </a:bodyPr>
          <a:lstStyle/>
          <a:p>
            <a:pPr eaLnBrk="0" hangingPunct="0">
              <a:defRPr/>
            </a:pPr>
            <a:r>
              <a:rPr lang="en-US">
                <a:solidFill>
                  <a:schemeClr val="tx2"/>
                </a:solidFill>
                <a:latin typeface="Arial" pitchFamily="34" charset="0"/>
                <a:cs typeface="+mn-cs"/>
              </a:rPr>
              <a:t>®</a:t>
            </a:r>
          </a:p>
        </p:txBody>
      </p:sp>
      <p:pic>
        <p:nvPicPr>
          <p:cNvPr id="9" name="Picture 4" descr="Related image"/>
          <p:cNvPicPr>
            <a:picLocks noChangeAspect="1" noChangeArrowheads="1"/>
          </p:cNvPicPr>
          <p:nvPr userDrawn="1"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8229600" y="0"/>
            <a:ext cx="914400" cy="914400"/>
          </a:xfrm>
          <a:prstGeom prst="rect">
            <a:avLst/>
          </a:prstGeom>
          <a:noFill/>
        </p:spPr>
      </p:pic>
      <p:pic>
        <p:nvPicPr>
          <p:cNvPr id="10" name="Picture 12"/>
          <p:cNvPicPr>
            <a:picLocks noChangeAspect="1" noChangeArrowheads="1"/>
          </p:cNvPicPr>
          <p:nvPr userDrawn="1"/>
        </p:nvPicPr>
        <p:blipFill>
          <a:blip r:embed="rId15" cstate="print"/>
          <a:srcRect l="4695" t="9403" r="5373" b="8952"/>
          <a:stretch>
            <a:fillRect/>
          </a:stretch>
        </p:blipFill>
        <p:spPr bwMode="auto">
          <a:xfrm>
            <a:off x="1733636" y="6334599"/>
            <a:ext cx="1096453" cy="4716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66" r:id="rId1"/>
    <p:sldLayoutId id="2147483956" r:id="rId2"/>
    <p:sldLayoutId id="2147483957" r:id="rId3"/>
    <p:sldLayoutId id="2147483958" r:id="rId4"/>
    <p:sldLayoutId id="2147483959" r:id="rId5"/>
    <p:sldLayoutId id="2147483960" r:id="rId6"/>
    <p:sldLayoutId id="2147483961" r:id="rId7"/>
    <p:sldLayoutId id="2147483962" r:id="rId8"/>
    <p:sldLayoutId id="2147483963" r:id="rId9"/>
    <p:sldLayoutId id="2147483964" r:id="rId10"/>
    <p:sldLayoutId id="2147483965" r:id="rId11"/>
  </p:sldLayoutIdLst>
  <p:timing>
    <p:tnLst>
      <p:par>
        <p:cTn id="1" dur="indefinite" restart="never" nodeType="tmRoot"/>
      </p:par>
    </p:tnLst>
  </p:timing>
  <p:hf sldNum="0" hdr="0" dt="0"/>
  <p:txStyles>
    <p:titleStyle>
      <a:lvl1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MS PGothic" pitchFamily="34" charset="-128"/>
          <a:cs typeface="MS PGothic" charset="0"/>
        </a:defRPr>
      </a:lvl1pPr>
      <a:lvl2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MS PGothic" pitchFamily="34" charset="-128"/>
          <a:cs typeface="MS PGothic" charset="0"/>
        </a:defRPr>
      </a:lvl2pPr>
      <a:lvl3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MS PGothic" pitchFamily="34" charset="-128"/>
          <a:cs typeface="MS PGothic" charset="0"/>
        </a:defRPr>
      </a:lvl3pPr>
      <a:lvl4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MS PGothic" pitchFamily="34" charset="-128"/>
          <a:cs typeface="MS PGothic" charset="0"/>
        </a:defRPr>
      </a:lvl4pPr>
      <a:lvl5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MS PGothic" pitchFamily="34" charset="-128"/>
          <a:cs typeface="MS PGothic" charset="0"/>
        </a:defRPr>
      </a:lvl5pPr>
      <a:lvl6pPr marL="4572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6pPr>
      <a:lvl7pPr marL="9144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7pPr>
      <a:lvl8pPr marL="13716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8pPr>
      <a:lvl9pPr marL="18288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9pPr>
    </p:titleStyle>
    <p:bodyStyle>
      <a:lvl1pPr marL="233363" indent="-233363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•"/>
        <a:defRPr sz="2400">
          <a:solidFill>
            <a:schemeClr val="tx2"/>
          </a:solidFill>
          <a:latin typeface="+mn-lt"/>
          <a:ea typeface="MS PGothic" pitchFamily="34" charset="-128"/>
          <a:cs typeface="MS PGothic" charset="0"/>
        </a:defRPr>
      </a:lvl1pPr>
      <a:lvl2pPr marL="569913" indent="-22225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–"/>
        <a:defRPr sz="2000">
          <a:solidFill>
            <a:schemeClr val="tx2"/>
          </a:solidFill>
          <a:latin typeface="+mn-lt"/>
          <a:ea typeface="MS PGothic" pitchFamily="34" charset="-128"/>
          <a:cs typeface="MS PGothic" charset="0"/>
        </a:defRPr>
      </a:lvl2pPr>
      <a:lvl3pPr marL="9128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•"/>
        <a:defRPr>
          <a:solidFill>
            <a:schemeClr val="tx2"/>
          </a:solidFill>
          <a:latin typeface="+mn-lt"/>
          <a:ea typeface="MS PGothic" pitchFamily="34" charset="-128"/>
          <a:cs typeface="MS PGothic" charset="0"/>
        </a:defRPr>
      </a:lvl3pPr>
      <a:lvl4pPr marL="12557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–"/>
        <a:defRPr sz="1600">
          <a:solidFill>
            <a:schemeClr val="tx2"/>
          </a:solidFill>
          <a:latin typeface="+mn-lt"/>
          <a:ea typeface="MS PGothic" pitchFamily="34" charset="-128"/>
          <a:cs typeface="MS PGothic" charset="0"/>
        </a:defRPr>
      </a:lvl4pPr>
      <a:lvl5pPr marL="15986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»"/>
        <a:defRPr sz="1600">
          <a:solidFill>
            <a:schemeClr val="tx2"/>
          </a:solidFill>
          <a:latin typeface="+mn-lt"/>
          <a:ea typeface="MS PGothic" pitchFamily="34" charset="-128"/>
          <a:cs typeface="MS PGothic" charset="0"/>
        </a:defRPr>
      </a:lvl5pPr>
      <a:lvl6pPr marL="20558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»"/>
        <a:defRPr sz="1600">
          <a:solidFill>
            <a:schemeClr val="tx2"/>
          </a:solidFill>
          <a:latin typeface="+mn-lt"/>
        </a:defRPr>
      </a:lvl6pPr>
      <a:lvl7pPr marL="25130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»"/>
        <a:defRPr sz="1600">
          <a:solidFill>
            <a:schemeClr val="tx2"/>
          </a:solidFill>
          <a:latin typeface="+mn-lt"/>
        </a:defRPr>
      </a:lvl7pPr>
      <a:lvl8pPr marL="29702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»"/>
        <a:defRPr sz="1600">
          <a:solidFill>
            <a:schemeClr val="tx2"/>
          </a:solidFill>
          <a:latin typeface="+mn-lt"/>
        </a:defRPr>
      </a:lvl8pPr>
      <a:lvl9pPr marL="34274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»"/>
        <a:defRPr sz="1600">
          <a:solidFill>
            <a:schemeClr val="tx2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w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portal.opengeospatial.org/files/?artifact_id=31575&amp;version=1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opengeospatial/wfs3hackathon" TargetMode="External"/><Relationship Id="rId2" Type="http://schemas.openxmlformats.org/officeDocument/2006/relationships/hyperlink" Target="https://github.com/opengeospatial/WFS_FES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hyperlink" Target="http://www.opengeospatial.org/pressroom/pressreleases/2830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s://www.opengeospatial.org/standards/ogcapi-features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://docs.opengeospatial.org/is/17-069r3/17-069r3.html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w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08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762000" y="3962400"/>
            <a:ext cx="7772400" cy="1143000"/>
          </a:xfrm>
        </p:spPr>
        <p:txBody>
          <a:bodyPr/>
          <a:lstStyle/>
          <a:p>
            <a:pPr lvl="1">
              <a:defRPr/>
            </a:pPr>
            <a:r>
              <a:rPr lang="ca-ES" dirty="0" err="1" smtClean="0"/>
              <a:t>Reciente</a:t>
            </a:r>
            <a:r>
              <a:rPr lang="ca-ES" dirty="0" smtClean="0"/>
              <a:t> </a:t>
            </a:r>
            <a:r>
              <a:rPr lang="ca-ES" dirty="0" err="1" smtClean="0"/>
              <a:t>aprobación</a:t>
            </a:r>
            <a:r>
              <a:rPr lang="ca-ES" dirty="0" smtClean="0"/>
              <a:t> de OGC API </a:t>
            </a:r>
            <a:r>
              <a:rPr lang="ca-ES" dirty="0" err="1" smtClean="0"/>
              <a:t>Features</a:t>
            </a:r>
            <a:r>
              <a:rPr lang="ca-ES" dirty="0" smtClean="0"/>
              <a:t> y </a:t>
            </a:r>
            <a:r>
              <a:rPr lang="ca-ES" dirty="0" err="1" smtClean="0"/>
              <a:t>iniciativas</a:t>
            </a:r>
            <a:r>
              <a:rPr lang="ca-ES" dirty="0" smtClean="0"/>
              <a:t> para </a:t>
            </a:r>
            <a:r>
              <a:rPr lang="ca-ES" dirty="0" err="1" smtClean="0"/>
              <a:t>mapas</a:t>
            </a:r>
            <a:r>
              <a:rPr lang="ca-ES" dirty="0" smtClean="0"/>
              <a:t>, </a:t>
            </a:r>
            <a:r>
              <a:rPr lang="ca-ES" dirty="0" err="1" smtClean="0"/>
              <a:t>teselas</a:t>
            </a:r>
            <a:r>
              <a:rPr lang="ca-ES" dirty="0" smtClean="0"/>
              <a:t>, coverages, </a:t>
            </a:r>
            <a:r>
              <a:rPr lang="ca-ES" dirty="0" err="1" smtClean="0"/>
              <a:t>procesos</a:t>
            </a:r>
            <a:endParaRPr lang="es-ES" dirty="0" smtClean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447800" y="5257800"/>
            <a:ext cx="6400800" cy="1371600"/>
          </a:xfrm>
        </p:spPr>
        <p:txBody>
          <a:bodyPr/>
          <a:lstStyle/>
          <a:p>
            <a:r>
              <a:rPr lang="es-ES" sz="2000" dirty="0" err="1" smtClean="0">
                <a:cs typeface="Arial" pitchFamily="34" charset="0"/>
              </a:rPr>
              <a:t>JIIDE</a:t>
            </a:r>
            <a:r>
              <a:rPr lang="es-ES" sz="2000" dirty="0" smtClean="0">
                <a:cs typeface="Arial" pitchFamily="34" charset="0"/>
              </a:rPr>
              <a:t> </a:t>
            </a:r>
            <a:r>
              <a:rPr lang="es-ES" sz="2000" dirty="0" smtClean="0">
                <a:cs typeface="Arial" pitchFamily="34" charset="0"/>
              </a:rPr>
              <a:t>2019, Cáceres</a:t>
            </a:r>
            <a:endParaRPr lang="es-ES" sz="2000" dirty="0" smtClean="0">
              <a:cs typeface="Arial" pitchFamily="34" charset="0"/>
            </a:endParaRPr>
          </a:p>
          <a:p>
            <a:r>
              <a:rPr lang="es-ES" sz="2000" dirty="0" smtClean="0">
                <a:cs typeface="Arial" pitchFamily="34" charset="0"/>
              </a:rPr>
              <a:t>Joan Masó</a:t>
            </a:r>
          </a:p>
          <a:p>
            <a:r>
              <a:rPr lang="es-ES" sz="2000" dirty="0" smtClean="0">
                <a:cs typeface="Arial" pitchFamily="34" charset="0"/>
              </a:rPr>
              <a:t>25 </a:t>
            </a:r>
            <a:r>
              <a:rPr lang="es-ES" sz="2000" dirty="0" smtClean="0">
                <a:cs typeface="Arial" pitchFamily="34" charset="0"/>
              </a:rPr>
              <a:t>Octubre </a:t>
            </a:r>
            <a:r>
              <a:rPr lang="es-ES" sz="2000" dirty="0" smtClean="0">
                <a:cs typeface="Arial" pitchFamily="34" charset="0"/>
              </a:rPr>
              <a:t>2019</a:t>
            </a:r>
            <a:endParaRPr lang="es-ES" sz="2000" dirty="0" smtClean="0"/>
          </a:p>
        </p:txBody>
      </p:sp>
      <p:sp>
        <p:nvSpPr>
          <p:cNvPr id="6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Copyright © 2019 Open Geospatial Consortium</a:t>
            </a:r>
            <a:endParaRPr lang="en-US"/>
          </a:p>
        </p:txBody>
      </p:sp>
      <p:pic>
        <p:nvPicPr>
          <p:cNvPr id="3077" name="Picture 1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1000" y="2209800"/>
            <a:ext cx="3430588" cy="162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029200" y="1447800"/>
            <a:ext cx="3375739" cy="2362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 smtClean="0"/>
              <a:t>11 </a:t>
            </a:r>
            <a:r>
              <a:rPr lang="en-US" noProof="0" dirty="0" err="1" smtClean="0"/>
              <a:t>años</a:t>
            </a:r>
            <a:r>
              <a:rPr lang="en-US" noProof="0" dirty="0" smtClean="0"/>
              <a:t> </a:t>
            </a:r>
            <a:r>
              <a:rPr lang="en-US" noProof="0" dirty="0" err="1" smtClean="0"/>
              <a:t>intentando</a:t>
            </a:r>
            <a:r>
              <a:rPr lang="en-US" noProof="0" dirty="0" smtClean="0"/>
              <a:t> </a:t>
            </a:r>
            <a:r>
              <a:rPr lang="en-US" noProof="0" dirty="0" err="1" smtClean="0"/>
              <a:t>hacer</a:t>
            </a:r>
            <a:r>
              <a:rPr lang="en-US" noProof="0" dirty="0" smtClean="0"/>
              <a:t> REST</a:t>
            </a:r>
            <a:endParaRPr lang="en-US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075" y="1279525"/>
            <a:ext cx="8458200" cy="930275"/>
          </a:xfrm>
        </p:spPr>
        <p:txBody>
          <a:bodyPr>
            <a:normAutofit fontScale="92500" lnSpcReduction="20000"/>
          </a:bodyPr>
          <a:lstStyle/>
          <a:p>
            <a:r>
              <a:rPr lang="en-US" noProof="0" smtClean="0"/>
              <a:t>The recognition of two Architecture Orientations and the separation between SOA and ROA was done in the </a:t>
            </a:r>
            <a:r>
              <a:rPr lang="en-US" b="1" noProof="0" smtClean="0"/>
              <a:t>Valencia</a:t>
            </a:r>
            <a:r>
              <a:rPr lang="en-US" noProof="0" smtClean="0"/>
              <a:t> TC in back in </a:t>
            </a:r>
            <a:r>
              <a:rPr lang="en-US" b="1" noProof="0" smtClean="0"/>
              <a:t>2008</a:t>
            </a:r>
            <a:endParaRPr lang="en-US" b="1" noProof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 smtClean="0"/>
              <a:t>Copyright © 2019 Open Geospatial Consortium</a:t>
            </a:r>
            <a:endParaRPr lang="en-US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67000" y="1905000"/>
            <a:ext cx="6161087" cy="461977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5 CuadroTexto"/>
          <p:cNvSpPr txBox="1"/>
          <p:nvPr/>
        </p:nvSpPr>
        <p:spPr>
          <a:xfrm>
            <a:off x="1905000" y="914400"/>
            <a:ext cx="5943600" cy="30480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r>
              <a:rPr lang="ca-ES" sz="1050" b="0" dirty="0" smtClean="0">
                <a:latin typeface="+mj-lt"/>
                <a:hlinkClick r:id="rId3"/>
              </a:rPr>
              <a:t>https://portal.opengeospatial.org/files/?artifact_id=31575&amp;version=1</a:t>
            </a:r>
            <a:r>
              <a:rPr lang="ca-ES" sz="1050" b="0" dirty="0" smtClean="0">
                <a:latin typeface="+mj-lt"/>
              </a:rPr>
              <a:t>  </a:t>
            </a:r>
            <a:r>
              <a:rPr lang="ca-ES" sz="1050" b="0" dirty="0" err="1" smtClean="0">
                <a:latin typeface="+mj-lt"/>
              </a:rPr>
              <a:t>Closing</a:t>
            </a:r>
            <a:r>
              <a:rPr lang="ca-ES" sz="1050" b="0" dirty="0" smtClean="0">
                <a:latin typeface="+mj-lt"/>
              </a:rPr>
              <a:t> </a:t>
            </a:r>
            <a:r>
              <a:rPr lang="ca-ES" sz="1050" b="0" dirty="0" err="1" smtClean="0">
                <a:latin typeface="+mj-lt"/>
              </a:rPr>
              <a:t>plenary</a:t>
            </a:r>
            <a:r>
              <a:rPr lang="ca-ES" sz="1050" b="0" dirty="0" smtClean="0">
                <a:latin typeface="+mj-lt"/>
              </a:rPr>
              <a:t> </a:t>
            </a:r>
            <a:r>
              <a:rPr lang="ca-ES" sz="1050" b="0" dirty="0" err="1" smtClean="0">
                <a:latin typeface="+mj-lt"/>
              </a:rPr>
              <a:t>slide</a:t>
            </a:r>
            <a:r>
              <a:rPr lang="ca-ES" sz="1050" b="0" dirty="0" smtClean="0">
                <a:latin typeface="+mj-lt"/>
              </a:rPr>
              <a:t> 112</a:t>
            </a:r>
          </a:p>
        </p:txBody>
      </p:sp>
      <p:sp>
        <p:nvSpPr>
          <p:cNvPr id="7" name="6 Rectángulo"/>
          <p:cNvSpPr/>
          <p:nvPr/>
        </p:nvSpPr>
        <p:spPr bwMode="auto">
          <a:xfrm>
            <a:off x="2895600" y="3505200"/>
            <a:ext cx="5486400" cy="1066800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ca-ES"/>
          </a:p>
        </p:txBody>
      </p:sp>
      <p:cxnSp>
        <p:nvCxnSpPr>
          <p:cNvPr id="9" name="8 Conector recto"/>
          <p:cNvCxnSpPr/>
          <p:nvPr/>
        </p:nvCxnSpPr>
        <p:spPr bwMode="auto">
          <a:xfrm>
            <a:off x="4267200" y="4038600"/>
            <a:ext cx="685800" cy="0"/>
          </a:xfrm>
          <a:prstGeom prst="lin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xmlns="" val="19480802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dirty="0" smtClean="0"/>
              <a:t>Y de repente…</a:t>
            </a:r>
            <a:endParaRPr lang="es-ES" noProof="0" dirty="0"/>
          </a:p>
        </p:txBody>
      </p:sp>
      <p:sp>
        <p:nvSpPr>
          <p:cNvPr id="6" name="5 Subtítulo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ca-ES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Copyright © 2019 Open Geospatial Consortium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31775" y="136525"/>
            <a:ext cx="6092825" cy="685800"/>
          </a:xfrm>
        </p:spPr>
        <p:txBody>
          <a:bodyPr/>
          <a:lstStyle/>
          <a:p>
            <a:r>
              <a:rPr lang="es-ES" dirty="0" smtClean="0"/>
              <a:t>WFS3.0: Un Proceso abierto</a:t>
            </a:r>
            <a:endParaRPr lang="es-ES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 smtClean="0"/>
              <a:t>Es posible participar en cualquier momento el </a:t>
            </a:r>
            <a:r>
              <a:rPr lang="es-ES" dirty="0" err="1" smtClean="0"/>
              <a:t>GitHub</a:t>
            </a:r>
            <a:endParaRPr lang="es-ES" dirty="0" smtClean="0"/>
          </a:p>
          <a:p>
            <a:pPr lvl="1"/>
            <a:r>
              <a:rPr lang="es-ES" dirty="0" smtClean="0">
                <a:hlinkClick r:id="rId2"/>
              </a:rPr>
              <a:t>https://github.com/opengeospatial/WFS_FES</a:t>
            </a:r>
            <a:endParaRPr lang="es-ES" dirty="0" smtClean="0"/>
          </a:p>
          <a:p>
            <a:r>
              <a:rPr lang="en-US" dirty="0" smtClean="0"/>
              <a:t>OGC </a:t>
            </a:r>
            <a:r>
              <a:rPr lang="en-US" dirty="0" err="1" smtClean="0"/>
              <a:t>organizó</a:t>
            </a:r>
            <a:r>
              <a:rPr lang="en-US" dirty="0" smtClean="0"/>
              <a:t> un </a:t>
            </a:r>
            <a:r>
              <a:rPr lang="en-US" dirty="0" err="1" smtClean="0"/>
              <a:t>Hackathon</a:t>
            </a:r>
            <a:r>
              <a:rPr lang="en-US" dirty="0" smtClean="0"/>
              <a:t> </a:t>
            </a:r>
          </a:p>
          <a:p>
            <a:pPr lvl="1"/>
            <a:r>
              <a:rPr lang="en-US" dirty="0" smtClean="0"/>
              <a:t>6 and 7 March 2018 in Fort Collins, CO, USA</a:t>
            </a:r>
          </a:p>
          <a:p>
            <a:pPr lvl="1"/>
            <a:r>
              <a:rPr lang="es-ES" dirty="0" smtClean="0">
                <a:hlinkClick r:id="rId3"/>
              </a:rPr>
              <a:t>https://github.com/opengeospatial/wfs3hackathon</a:t>
            </a:r>
            <a:endParaRPr lang="es-ES" dirty="0" smtClean="0"/>
          </a:p>
          <a:p>
            <a:r>
              <a:rPr lang="en-US" dirty="0" smtClean="0"/>
              <a:t>OGC Seeks Public Comment on WFS 3.0 Candidate Standard</a:t>
            </a:r>
          </a:p>
          <a:p>
            <a:pPr lvl="1"/>
            <a:r>
              <a:rPr lang="es-ES" dirty="0" smtClean="0">
                <a:hlinkClick r:id="rId4"/>
              </a:rPr>
              <a:t>http://www.opengeospatial.org/pressroom/pressreleases/2830</a:t>
            </a:r>
            <a:endParaRPr lang="es-ES" dirty="0" smtClean="0"/>
          </a:p>
          <a:p>
            <a:pPr lvl="1"/>
            <a:r>
              <a:rPr lang="en-US" dirty="0" smtClean="0"/>
              <a:t>3 July 2018 </a:t>
            </a:r>
            <a:r>
              <a:rPr lang="en-US" dirty="0" err="1" smtClean="0"/>
              <a:t>UTC</a:t>
            </a:r>
            <a:endParaRPr lang="es-ES" dirty="0" smtClean="0"/>
          </a:p>
          <a:p>
            <a:endParaRPr lang="es-ES" dirty="0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Copyright © 2019 Open Geospatial Consortium</a:t>
            </a:r>
            <a:endParaRPr lang="en-US"/>
          </a:p>
        </p:txBody>
      </p:sp>
      <p:pic>
        <p:nvPicPr>
          <p:cNvPr id="1026" name="Picture 2" descr="http://www.opengeospatial.org/pub/www/files/pressrelease/WFS3_Pub_Comm.pn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419600" y="4495800"/>
            <a:ext cx="4724400" cy="2362200"/>
          </a:xfrm>
          <a:prstGeom prst="rect">
            <a:avLst/>
          </a:prstGeom>
          <a:noFill/>
        </p:spPr>
      </p:pic>
      <p:sp>
        <p:nvSpPr>
          <p:cNvPr id="6" name="5 Rectángulo"/>
          <p:cNvSpPr/>
          <p:nvPr/>
        </p:nvSpPr>
        <p:spPr>
          <a:xfrm rot="1205234">
            <a:off x="6105738" y="502541"/>
            <a:ext cx="3029997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3200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Hace un año…</a:t>
            </a:r>
            <a:endParaRPr lang="es-ES" sz="3200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 dirty="0" smtClean="0">
                <a:hlinkClick r:id="rId2"/>
              </a:rPr>
              <a:t>https://www.opengeospatial.org/standards/ogcapi-features</a:t>
            </a:r>
            <a:endParaRPr lang="ca-ES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ca-ES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Copyright © 2019 Open Geospatial Consortium</a:t>
            </a:r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 l="12201" t="17021" r="18082"/>
          <a:stretch>
            <a:fillRect/>
          </a:stretch>
        </p:blipFill>
        <p:spPr bwMode="auto">
          <a:xfrm>
            <a:off x="0" y="914400"/>
            <a:ext cx="9144000" cy="594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6 Rectángulo"/>
          <p:cNvSpPr/>
          <p:nvPr/>
        </p:nvSpPr>
        <p:spPr>
          <a:xfrm rot="20454712">
            <a:off x="2180340" y="2852329"/>
            <a:ext cx="441659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¡¡Publicado!!</a:t>
            </a:r>
            <a:endParaRPr lang="es-ES" sz="5400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 dirty="0" smtClean="0"/>
              <a:t>¿Que </a:t>
            </a:r>
            <a:r>
              <a:rPr lang="ca-ES" dirty="0" err="1" smtClean="0"/>
              <a:t>contiene</a:t>
            </a:r>
            <a:r>
              <a:rPr lang="ca-ES" dirty="0" smtClean="0"/>
              <a:t>?</a:t>
            </a:r>
            <a:endParaRPr lang="ca-ES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a-ES" dirty="0" smtClean="0">
                <a:hlinkClick r:id="rId2"/>
              </a:rPr>
              <a:t>7. </a:t>
            </a:r>
            <a:r>
              <a:rPr lang="ca-ES" dirty="0" err="1" smtClean="0">
                <a:hlinkClick r:id="rId2"/>
              </a:rPr>
              <a:t>Requirements</a:t>
            </a:r>
            <a:r>
              <a:rPr lang="ca-ES" dirty="0" smtClean="0">
                <a:hlinkClick r:id="rId2"/>
              </a:rPr>
              <a:t> Class "</a:t>
            </a:r>
            <a:r>
              <a:rPr lang="ca-ES" dirty="0" err="1" smtClean="0">
                <a:hlinkClick r:id="rId2"/>
              </a:rPr>
              <a:t>Core</a:t>
            </a:r>
            <a:r>
              <a:rPr lang="ca-ES" dirty="0" smtClean="0">
                <a:hlinkClick r:id="rId2"/>
              </a:rPr>
              <a:t>"</a:t>
            </a:r>
            <a:r>
              <a:rPr lang="ca-ES" dirty="0" smtClean="0">
                <a:hlinkClick r:id="rId2"/>
              </a:rPr>
              <a:t>7.1. </a:t>
            </a:r>
            <a:r>
              <a:rPr lang="ca-ES" dirty="0" err="1" smtClean="0">
                <a:hlinkClick r:id="rId2"/>
              </a:rPr>
              <a:t>Overview</a:t>
            </a:r>
            <a:endParaRPr lang="ca-ES" dirty="0" smtClean="0"/>
          </a:p>
          <a:p>
            <a:r>
              <a:rPr lang="ca-ES" dirty="0" smtClean="0">
                <a:hlinkClick r:id="rId2"/>
              </a:rPr>
              <a:t>7.2. API </a:t>
            </a:r>
            <a:r>
              <a:rPr lang="ca-ES" dirty="0" err="1" smtClean="0">
                <a:hlinkClick r:id="rId2"/>
              </a:rPr>
              <a:t>landing</a:t>
            </a:r>
            <a:r>
              <a:rPr lang="ca-ES" dirty="0" smtClean="0">
                <a:hlinkClick r:id="rId2"/>
              </a:rPr>
              <a:t> </a:t>
            </a:r>
            <a:r>
              <a:rPr lang="ca-ES" dirty="0" err="1" smtClean="0">
                <a:hlinkClick r:id="rId2"/>
              </a:rPr>
              <a:t>page</a:t>
            </a:r>
            <a:endParaRPr lang="ca-ES" dirty="0" smtClean="0"/>
          </a:p>
          <a:p>
            <a:r>
              <a:rPr lang="ca-ES" dirty="0" smtClean="0">
                <a:hlinkClick r:id="rId2"/>
              </a:rPr>
              <a:t>7.3</a:t>
            </a:r>
            <a:r>
              <a:rPr lang="ca-ES" dirty="0" smtClean="0">
                <a:hlinkClick r:id="rId2"/>
              </a:rPr>
              <a:t>. API </a:t>
            </a:r>
            <a:r>
              <a:rPr lang="ca-ES" dirty="0" err="1" smtClean="0">
                <a:hlinkClick r:id="rId2"/>
              </a:rPr>
              <a:t>definition</a:t>
            </a:r>
            <a:endParaRPr lang="ca-ES" dirty="0" smtClean="0"/>
          </a:p>
          <a:p>
            <a:r>
              <a:rPr lang="ca-ES" dirty="0" smtClean="0">
                <a:hlinkClick r:id="rId2"/>
              </a:rPr>
              <a:t>7.4</a:t>
            </a:r>
            <a:r>
              <a:rPr lang="ca-ES" dirty="0" smtClean="0">
                <a:hlinkClick r:id="rId2"/>
              </a:rPr>
              <a:t>. </a:t>
            </a:r>
            <a:r>
              <a:rPr lang="ca-ES" dirty="0" err="1" smtClean="0">
                <a:hlinkClick r:id="rId2"/>
              </a:rPr>
              <a:t>Declaration</a:t>
            </a:r>
            <a:r>
              <a:rPr lang="ca-ES" dirty="0" smtClean="0">
                <a:hlinkClick r:id="rId2"/>
              </a:rPr>
              <a:t> of </a:t>
            </a:r>
            <a:r>
              <a:rPr lang="ca-ES" dirty="0" err="1" smtClean="0">
                <a:hlinkClick r:id="rId2"/>
              </a:rPr>
              <a:t>conformance</a:t>
            </a:r>
            <a:r>
              <a:rPr lang="ca-ES" dirty="0" smtClean="0">
                <a:hlinkClick r:id="rId2"/>
              </a:rPr>
              <a:t> classes</a:t>
            </a:r>
            <a:endParaRPr lang="ca-ES" dirty="0" smtClean="0"/>
          </a:p>
          <a:p>
            <a:r>
              <a:rPr lang="ca-ES" dirty="0" smtClean="0">
                <a:hlinkClick r:id="rId2"/>
              </a:rPr>
              <a:t>7.13</a:t>
            </a:r>
            <a:r>
              <a:rPr lang="ca-ES" dirty="0" smtClean="0">
                <a:hlinkClick r:id="rId2"/>
              </a:rPr>
              <a:t>. </a:t>
            </a:r>
            <a:r>
              <a:rPr lang="ca-ES" dirty="0" err="1" smtClean="0">
                <a:hlinkClick r:id="rId2"/>
              </a:rPr>
              <a:t>Feature</a:t>
            </a:r>
            <a:r>
              <a:rPr lang="ca-ES" dirty="0" smtClean="0">
                <a:hlinkClick r:id="rId2"/>
              </a:rPr>
              <a:t> </a:t>
            </a:r>
            <a:r>
              <a:rPr lang="ca-ES" dirty="0" err="1" smtClean="0">
                <a:hlinkClick r:id="rId2"/>
              </a:rPr>
              <a:t>collections</a:t>
            </a:r>
            <a:endParaRPr lang="ca-ES" dirty="0" smtClean="0"/>
          </a:p>
          <a:p>
            <a:r>
              <a:rPr lang="ca-ES" dirty="0" smtClean="0">
                <a:hlinkClick r:id="rId2"/>
              </a:rPr>
              <a:t>7.14</a:t>
            </a:r>
            <a:r>
              <a:rPr lang="ca-ES" dirty="0" smtClean="0">
                <a:hlinkClick r:id="rId2"/>
              </a:rPr>
              <a:t>. </a:t>
            </a:r>
            <a:r>
              <a:rPr lang="ca-ES" dirty="0" err="1" smtClean="0">
                <a:hlinkClick r:id="rId2"/>
              </a:rPr>
              <a:t>Feature</a:t>
            </a:r>
            <a:r>
              <a:rPr lang="ca-ES" dirty="0" smtClean="0">
                <a:hlinkClick r:id="rId2"/>
              </a:rPr>
              <a:t> </a:t>
            </a:r>
            <a:r>
              <a:rPr lang="ca-ES" dirty="0" err="1" smtClean="0">
                <a:hlinkClick r:id="rId2"/>
              </a:rPr>
              <a:t>collection</a:t>
            </a:r>
            <a:endParaRPr lang="ca-ES" dirty="0" smtClean="0"/>
          </a:p>
          <a:p>
            <a:r>
              <a:rPr lang="ca-ES" dirty="0" smtClean="0">
                <a:hlinkClick r:id="rId2"/>
              </a:rPr>
              <a:t>7.15</a:t>
            </a:r>
            <a:r>
              <a:rPr lang="ca-ES" dirty="0" smtClean="0">
                <a:hlinkClick r:id="rId2"/>
              </a:rPr>
              <a:t>. </a:t>
            </a:r>
            <a:r>
              <a:rPr lang="ca-ES" dirty="0" err="1" smtClean="0">
                <a:hlinkClick r:id="rId2"/>
              </a:rPr>
              <a:t>Features</a:t>
            </a:r>
            <a:endParaRPr lang="ca-ES" dirty="0" smtClean="0"/>
          </a:p>
          <a:p>
            <a:r>
              <a:rPr lang="ca-ES" dirty="0" smtClean="0">
                <a:hlinkClick r:id="rId2"/>
              </a:rPr>
              <a:t>7.16</a:t>
            </a:r>
            <a:r>
              <a:rPr lang="ca-ES" dirty="0" smtClean="0">
                <a:hlinkClick r:id="rId2"/>
              </a:rPr>
              <a:t>. </a:t>
            </a:r>
            <a:r>
              <a:rPr lang="ca-ES" dirty="0" err="1" smtClean="0">
                <a:hlinkClick r:id="rId2"/>
              </a:rPr>
              <a:t>Feature</a:t>
            </a:r>
            <a:endParaRPr lang="ca-ES" dirty="0" smtClean="0"/>
          </a:p>
          <a:p>
            <a:endParaRPr lang="ca-ES" dirty="0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Copyright © 2019 Open Geospatial Consortium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Dos aproximaciones</a:t>
            </a:r>
            <a:endParaRPr lang="es-ES" dirty="0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Copyright © 2019 Open Geospatial Consortium</a:t>
            </a:r>
            <a:endParaRPr lang="en-US"/>
          </a:p>
        </p:txBody>
      </p:sp>
      <p:grpSp>
        <p:nvGrpSpPr>
          <p:cNvPr id="8" name="7 Grupo"/>
          <p:cNvGrpSpPr/>
          <p:nvPr/>
        </p:nvGrpSpPr>
        <p:grpSpPr>
          <a:xfrm>
            <a:off x="685800" y="895350"/>
            <a:ext cx="14935200" cy="5962650"/>
            <a:chOff x="685800" y="895350"/>
            <a:chExt cx="14935200" cy="5962650"/>
          </a:xfrm>
        </p:grpSpPr>
        <p:pic>
          <p:nvPicPr>
            <p:cNvPr id="2050" name="Picture 2"/>
            <p:cNvPicPr>
              <a:picLocks noChangeAspect="1" noChangeArrowheads="1"/>
            </p:cNvPicPr>
            <p:nvPr/>
          </p:nvPicPr>
          <p:blipFill>
            <a:blip r:embed="rId2" cstate="print"/>
            <a:srcRect t="16086"/>
            <a:stretch>
              <a:fillRect/>
            </a:stretch>
          </p:blipFill>
          <p:spPr bwMode="auto">
            <a:xfrm>
              <a:off x="1676400" y="895350"/>
              <a:ext cx="13011150" cy="59626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6" name="5 CuadroTexto"/>
            <p:cNvSpPr txBox="1"/>
            <p:nvPr/>
          </p:nvSpPr>
          <p:spPr>
            <a:xfrm rot="16200000">
              <a:off x="-1028700" y="3009900"/>
              <a:ext cx="4191000" cy="762000"/>
            </a:xfrm>
            <a:prstGeom prst="rect">
              <a:avLst/>
            </a:prstGeom>
            <a:noFill/>
          </p:spPr>
          <p:txBody>
            <a:bodyPr wrap="none" rtlCol="0">
              <a:noAutofit/>
            </a:bodyPr>
            <a:lstStyle/>
            <a:p>
              <a:r>
                <a:rPr lang="es-ES" sz="2800" b="0" smtClean="0">
                  <a:latin typeface="+mn-lt"/>
                </a:rPr>
                <a:t>Acceso</a:t>
              </a:r>
              <a:r>
                <a:rPr lang="es-ES" sz="2800" b="0" smtClean="0">
                  <a:latin typeface="+mn-lt"/>
                </a:rPr>
                <a:t> directo a </a:t>
              </a:r>
              <a:r>
                <a:rPr lang="es-ES" sz="2800" b="0" smtClean="0">
                  <a:latin typeface="+mn-lt"/>
                </a:rPr>
                <a:t>paths</a:t>
              </a:r>
              <a:endParaRPr lang="es-ES" sz="2800" b="0" smtClean="0">
                <a:latin typeface="+mn-lt"/>
              </a:endParaRPr>
            </a:p>
          </p:txBody>
        </p:sp>
        <p:sp>
          <p:nvSpPr>
            <p:cNvPr id="7" name="6 CuadroTexto"/>
            <p:cNvSpPr txBox="1"/>
            <p:nvPr/>
          </p:nvSpPr>
          <p:spPr>
            <a:xfrm rot="16200000">
              <a:off x="13144500" y="3086100"/>
              <a:ext cx="4191000" cy="762000"/>
            </a:xfrm>
            <a:prstGeom prst="rect">
              <a:avLst/>
            </a:prstGeom>
            <a:noFill/>
          </p:spPr>
          <p:txBody>
            <a:bodyPr wrap="none" rtlCol="0">
              <a:noAutofit/>
            </a:bodyPr>
            <a:lstStyle/>
            <a:p>
              <a:r>
                <a:rPr lang="ca-ES" sz="2800" b="0" dirty="0" smtClean="0">
                  <a:latin typeface="+mn-lt"/>
                </a:rPr>
                <a:t>Seguir </a:t>
              </a:r>
              <a:r>
                <a:rPr lang="ca-ES" sz="2800" b="0" dirty="0" err="1" smtClean="0">
                  <a:latin typeface="+mn-lt"/>
                </a:rPr>
                <a:t>enlaces</a:t>
              </a:r>
              <a:endParaRPr lang="ca-ES" sz="2800" b="0" dirty="0" smtClean="0">
                <a:latin typeface="+mn-lt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2.22222E-6 L -0.73334 2.22222E-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67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smtClean="0"/>
              <a:t>¿...y </a:t>
            </a:r>
            <a:r>
              <a:rPr lang="es-ES" smtClean="0"/>
              <a:t>los </a:t>
            </a:r>
            <a:r>
              <a:rPr lang="es-ES" smtClean="0"/>
              <a:t>demás?</a:t>
            </a:r>
            <a:endParaRPr lang="es-ES"/>
          </a:p>
        </p:txBody>
      </p:sp>
      <p:sp>
        <p:nvSpPr>
          <p:cNvPr id="6" name="5 Subtítulo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ca-ES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Copyright © 2019 Open Geospatial Consortium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ca-ES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Copyright © 2019 Open Geospatial Consortium</a:t>
            </a:r>
            <a:endParaRPr lang="en-US"/>
          </a:p>
        </p:txBody>
      </p:sp>
      <p:pic>
        <p:nvPicPr>
          <p:cNvPr id="3074" name="Picture 2" descr="https://www.opengeospatial.org/pub/www/files/blog/201907_OGC_API_Hack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4648201"/>
            <a:ext cx="9112572" cy="2209800"/>
          </a:xfrm>
          <a:prstGeom prst="rect">
            <a:avLst/>
          </a:prstGeom>
          <a:noFill/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304800"/>
            <a:ext cx="4676775" cy="3724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962400" y="2209800"/>
            <a:ext cx="4003675" cy="761999"/>
          </a:xfrm>
        </p:spPr>
        <p:txBody>
          <a:bodyPr/>
          <a:lstStyle/>
          <a:p>
            <a:pPr>
              <a:buNone/>
            </a:pPr>
            <a:r>
              <a:rPr lang="ca-ES" sz="3600" dirty="0" smtClean="0"/>
              <a:t>OGC API - </a:t>
            </a:r>
          </a:p>
        </p:txBody>
      </p:sp>
      <p:sp>
        <p:nvSpPr>
          <p:cNvPr id="8" name="7 CuadroTexto"/>
          <p:cNvSpPr txBox="1"/>
          <p:nvPr/>
        </p:nvSpPr>
        <p:spPr>
          <a:xfrm>
            <a:off x="6248400" y="2209800"/>
            <a:ext cx="3505200" cy="426720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marL="233363" indent="-233363" eaLnBrk="0" hangingPunct="0">
              <a:spcBef>
                <a:spcPct val="20000"/>
              </a:spcBef>
              <a:buClr>
                <a:srgbClr val="092E5C"/>
              </a:buClr>
            </a:pPr>
            <a:r>
              <a:rPr lang="ca-ES" sz="3600" b="0" dirty="0" err="1" smtClean="0">
                <a:solidFill>
                  <a:schemeClr val="tx2"/>
                </a:solidFill>
                <a:latin typeface="+mn-lt"/>
                <a:cs typeface="MS PGothic" charset="0"/>
              </a:rPr>
              <a:t>Maps</a:t>
            </a:r>
            <a:endParaRPr lang="ca-ES" sz="3600" b="0" dirty="0" smtClean="0">
              <a:solidFill>
                <a:schemeClr val="tx2"/>
              </a:solidFill>
              <a:latin typeface="+mn-lt"/>
              <a:cs typeface="MS PGothic" charset="0"/>
            </a:endParaRPr>
          </a:p>
          <a:p>
            <a:pPr marL="233363" indent="-233363" eaLnBrk="0" hangingPunct="0">
              <a:spcBef>
                <a:spcPct val="20000"/>
              </a:spcBef>
              <a:buClr>
                <a:srgbClr val="092E5C"/>
              </a:buClr>
            </a:pPr>
            <a:r>
              <a:rPr lang="ca-ES" sz="3600" b="0" dirty="0" err="1" smtClean="0">
                <a:solidFill>
                  <a:schemeClr val="tx2"/>
                </a:solidFill>
                <a:latin typeface="+mn-lt"/>
                <a:cs typeface="MS PGothic" charset="0"/>
              </a:rPr>
              <a:t>Tiles</a:t>
            </a:r>
            <a:endParaRPr lang="ca-ES" sz="3600" b="0" dirty="0" smtClean="0">
              <a:solidFill>
                <a:schemeClr val="tx2"/>
              </a:solidFill>
              <a:latin typeface="+mn-lt"/>
              <a:cs typeface="MS PGothic" charset="0"/>
            </a:endParaRPr>
          </a:p>
          <a:p>
            <a:pPr marL="233363" indent="-233363" eaLnBrk="0" hangingPunct="0">
              <a:spcBef>
                <a:spcPct val="20000"/>
              </a:spcBef>
              <a:buClr>
                <a:srgbClr val="092E5C"/>
              </a:buClr>
            </a:pPr>
            <a:r>
              <a:rPr lang="ca-ES" sz="3600" b="0" dirty="0" smtClean="0">
                <a:solidFill>
                  <a:schemeClr val="tx2"/>
                </a:solidFill>
                <a:latin typeface="+mn-lt"/>
                <a:cs typeface="MS PGothic" charset="0"/>
              </a:rPr>
              <a:t>Coverages</a:t>
            </a:r>
          </a:p>
          <a:p>
            <a:pPr marL="233363" indent="-233363" eaLnBrk="0" hangingPunct="0">
              <a:spcBef>
                <a:spcPct val="20000"/>
              </a:spcBef>
              <a:buClr>
                <a:srgbClr val="092E5C"/>
              </a:buClr>
            </a:pPr>
            <a:r>
              <a:rPr lang="ca-ES" sz="3600" b="0" dirty="0" err="1" smtClean="0">
                <a:solidFill>
                  <a:schemeClr val="tx2"/>
                </a:solidFill>
                <a:latin typeface="+mn-lt"/>
                <a:cs typeface="MS PGothic" charset="0"/>
              </a:rPr>
              <a:t>Proceses</a:t>
            </a:r>
            <a:endParaRPr lang="ca-ES" sz="3600" b="0" dirty="0" smtClean="0">
              <a:solidFill>
                <a:schemeClr val="tx2"/>
              </a:solidFill>
              <a:latin typeface="+mn-lt"/>
              <a:cs typeface="MS PGothic" charset="0"/>
            </a:endParaRPr>
          </a:p>
          <a:p>
            <a:pPr marL="233363" indent="-233363" eaLnBrk="0" hangingPunct="0">
              <a:spcBef>
                <a:spcPct val="20000"/>
              </a:spcBef>
              <a:buClr>
                <a:srgbClr val="092E5C"/>
              </a:buClr>
            </a:pPr>
            <a:r>
              <a:rPr lang="ca-ES" sz="3600" b="0" dirty="0" err="1" smtClean="0">
                <a:solidFill>
                  <a:schemeClr val="tx2"/>
                </a:solidFill>
                <a:latin typeface="+mn-lt"/>
                <a:cs typeface="MS PGothic" charset="0"/>
              </a:rPr>
              <a:t>Common</a:t>
            </a:r>
            <a:endParaRPr lang="ca-ES" sz="3600" b="0" dirty="0" smtClean="0">
              <a:solidFill>
                <a:schemeClr val="tx2"/>
              </a:solidFill>
              <a:latin typeface="+mn-lt"/>
              <a:cs typeface="MS PGothic" charset="0"/>
            </a:endParaRPr>
          </a:p>
          <a:p>
            <a:pPr marL="233363" indent="-233363" eaLnBrk="0" hangingPunct="0">
              <a:spcBef>
                <a:spcPct val="20000"/>
              </a:spcBef>
              <a:buClr>
                <a:srgbClr val="092E5C"/>
              </a:buClr>
            </a:pPr>
            <a:r>
              <a:rPr lang="ca-ES" sz="3600" b="0" dirty="0" err="1" smtClean="0">
                <a:solidFill>
                  <a:schemeClr val="tx2"/>
                </a:solidFill>
                <a:latin typeface="+mn-lt"/>
                <a:cs typeface="MS PGothic" charset="0"/>
              </a:rPr>
              <a:t>Catalogue</a:t>
            </a:r>
            <a:endParaRPr lang="ca-ES" sz="3600" b="0" dirty="0" smtClean="0">
              <a:solidFill>
                <a:schemeClr val="tx2"/>
              </a:solidFill>
              <a:latin typeface="+mn-lt"/>
              <a:cs typeface="MS PGothic" charset="0"/>
            </a:endParaRPr>
          </a:p>
          <a:p>
            <a:pPr marL="233363" indent="-233363" eaLnBrk="0" hangingPunct="0">
              <a:spcBef>
                <a:spcPct val="20000"/>
              </a:spcBef>
              <a:buClr>
                <a:srgbClr val="092E5C"/>
              </a:buClr>
            </a:pPr>
            <a:r>
              <a:rPr lang="ca-ES" sz="3600" b="0" dirty="0" err="1" smtClean="0">
                <a:solidFill>
                  <a:schemeClr val="tx2"/>
                </a:solidFill>
                <a:latin typeface="+mn-lt"/>
                <a:cs typeface="MS PGothic" charset="0"/>
              </a:rPr>
              <a:t>Features</a:t>
            </a:r>
            <a:endParaRPr lang="ca-ES" sz="3600" b="0" dirty="0" smtClean="0">
              <a:solidFill>
                <a:schemeClr val="tx2"/>
              </a:solidFill>
              <a:latin typeface="+mn-lt"/>
              <a:cs typeface="MS PGothic" charset="0"/>
            </a:endParaRPr>
          </a:p>
          <a:p>
            <a:pPr marL="233363" indent="-233363" eaLnBrk="0" hangingPunct="0">
              <a:spcBef>
                <a:spcPct val="20000"/>
              </a:spcBef>
              <a:buClr>
                <a:srgbClr val="092E5C"/>
              </a:buClr>
            </a:pPr>
            <a:endParaRPr lang="ca-ES" sz="3600" b="0" dirty="0" smtClean="0">
              <a:solidFill>
                <a:schemeClr val="tx2"/>
              </a:solidFill>
              <a:latin typeface="+mn-lt"/>
              <a:cs typeface="MS PGothic" charset="0"/>
            </a:endParaRPr>
          </a:p>
          <a:p>
            <a:pPr marL="233363" indent="-233363" eaLnBrk="0" hangingPunct="0">
              <a:spcBef>
                <a:spcPct val="20000"/>
              </a:spcBef>
              <a:buClr>
                <a:srgbClr val="092E5C"/>
              </a:buClr>
            </a:pPr>
            <a:endParaRPr lang="ca-ES" sz="3600" b="0" dirty="0" err="1" smtClean="0">
              <a:solidFill>
                <a:schemeClr val="tx2"/>
              </a:solidFill>
              <a:latin typeface="+mn-lt"/>
              <a:cs typeface="MS PGothic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4" presetClass="path" presetSubtype="0" accel="50000" decel="50000" fill="remove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11022E-16 -3.33333E-6 L 1.11022E-16 -0.63333 " pathEditMode="relative" rAng="0" ptsTypes="AA">
                                      <p:cBhvr>
                                        <p:cTn id="6" dur="5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31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0"/>
                            </p:stCondLst>
                            <p:childTnLst>
                              <p:par>
                                <p:cTn id="8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11022E-16 -0.63333 L 1.11022E-16 0.01111 " pathEditMode="relative" rAng="0" ptsTypes="AA">
                                      <p:cBhvr>
                                        <p:cTn id="9" dur="5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2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0"/>
                            </p:stCondLst>
                            <p:childTnLst>
                              <p:par>
                                <p:cTn id="11" presetID="64" presetClass="path" presetSubtype="0" accel="50000" decel="50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11022E-16 0.01111 L 1.11022E-16 -0.62222 " pathEditMode="relative" rAng="0" ptsTypes="AA">
                                      <p:cBhvr>
                                        <p:cTn id="12" dur="5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31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5000"/>
                            </p:stCondLst>
                            <p:childTnLst>
                              <p:par>
                                <p:cTn id="14" presetID="42" presetClass="path" presetSubtype="0" accel="50000" decel="5000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11022E-16 -0.63333 L 1.11022E-16 -0.02222 " pathEditMode="relative" rAng="0" ptsTypes="AA">
                                      <p:cBhvr>
                                        <p:cTn id="15" dur="5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0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8" grpId="1"/>
      <p:bldP spid="8" grpId="2"/>
      <p:bldP spid="8" grpId="3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6 CuadroTexto"/>
          <p:cNvSpPr txBox="1"/>
          <p:nvPr/>
        </p:nvSpPr>
        <p:spPr>
          <a:xfrm>
            <a:off x="179512" y="4876800"/>
            <a:ext cx="1440160" cy="5847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b="0" dirty="0" smtClean="0"/>
              <a:t>Common collections</a:t>
            </a:r>
            <a:endParaRPr lang="en-US" sz="1600" b="0" dirty="0"/>
          </a:p>
        </p:txBody>
      </p:sp>
      <p:sp>
        <p:nvSpPr>
          <p:cNvPr id="8" name="7 CuadroTexto"/>
          <p:cNvSpPr txBox="1"/>
          <p:nvPr/>
        </p:nvSpPr>
        <p:spPr>
          <a:xfrm>
            <a:off x="3203848" y="3429000"/>
            <a:ext cx="1296144" cy="58477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b="0" dirty="0" smtClean="0"/>
              <a:t>Tiles collections</a:t>
            </a:r>
          </a:p>
        </p:txBody>
      </p:sp>
      <p:cxnSp>
        <p:nvCxnSpPr>
          <p:cNvPr id="33" name="32 Conector recto de flecha"/>
          <p:cNvCxnSpPr>
            <a:stCxn id="100" idx="3"/>
            <a:endCxn id="103" idx="1"/>
          </p:cNvCxnSpPr>
          <p:nvPr/>
        </p:nvCxnSpPr>
        <p:spPr>
          <a:xfrm>
            <a:off x="3275856" y="4729500"/>
            <a:ext cx="1008112" cy="288032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35 Conector recto de flecha"/>
          <p:cNvCxnSpPr>
            <a:stCxn id="4" idx="2"/>
            <a:endCxn id="59" idx="0"/>
          </p:cNvCxnSpPr>
          <p:nvPr/>
        </p:nvCxnSpPr>
        <p:spPr>
          <a:xfrm>
            <a:off x="5364088" y="1627714"/>
            <a:ext cx="1404156" cy="2089318"/>
          </a:xfrm>
          <a:prstGeom prst="straightConnector1">
            <a:avLst/>
          </a:prstGeom>
          <a:ln w="28575"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23 CuadroTexto"/>
          <p:cNvSpPr txBox="1"/>
          <p:nvPr/>
        </p:nvSpPr>
        <p:spPr>
          <a:xfrm>
            <a:off x="179512" y="3861048"/>
            <a:ext cx="1440160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b="0" dirty="0" smtClean="0"/>
              <a:t>Features core</a:t>
            </a:r>
          </a:p>
        </p:txBody>
      </p:sp>
      <p:cxnSp>
        <p:nvCxnSpPr>
          <p:cNvPr id="29" name="28 Conector recto de flecha"/>
          <p:cNvCxnSpPr>
            <a:stCxn id="24" idx="2"/>
            <a:endCxn id="7" idx="0"/>
          </p:cNvCxnSpPr>
          <p:nvPr/>
        </p:nvCxnSpPr>
        <p:spPr>
          <a:xfrm>
            <a:off x="899592" y="4199602"/>
            <a:ext cx="0" cy="677198"/>
          </a:xfrm>
          <a:prstGeom prst="straightConnector1">
            <a:avLst/>
          </a:prstGeom>
          <a:ln w="28575">
            <a:prstDash val="soli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2 CuadroTexto"/>
          <p:cNvSpPr txBox="1"/>
          <p:nvPr/>
        </p:nvSpPr>
        <p:spPr>
          <a:xfrm>
            <a:off x="3851920" y="980728"/>
            <a:ext cx="1008112" cy="646986"/>
          </a:xfrm>
          <a:prstGeom prst="flowChartAlternate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b="0" dirty="0" smtClean="0"/>
              <a:t>Vector Tiles</a:t>
            </a:r>
            <a:endParaRPr lang="en-US" sz="1600" b="0" dirty="0"/>
          </a:p>
        </p:txBody>
      </p:sp>
      <p:sp>
        <p:nvSpPr>
          <p:cNvPr id="4" name="3 CuadroTexto"/>
          <p:cNvSpPr txBox="1"/>
          <p:nvPr/>
        </p:nvSpPr>
        <p:spPr>
          <a:xfrm>
            <a:off x="4932040" y="980728"/>
            <a:ext cx="864096" cy="646986"/>
          </a:xfrm>
          <a:prstGeom prst="flowChartAlternate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b="0" dirty="0" smtClean="0"/>
              <a:t>Map Tiles</a:t>
            </a:r>
          </a:p>
        </p:txBody>
      </p:sp>
      <p:cxnSp>
        <p:nvCxnSpPr>
          <p:cNvPr id="74" name="73 Conector recto de flecha"/>
          <p:cNvCxnSpPr>
            <a:stCxn id="103" idx="1"/>
            <a:endCxn id="7" idx="3"/>
          </p:cNvCxnSpPr>
          <p:nvPr/>
        </p:nvCxnSpPr>
        <p:spPr>
          <a:xfrm flipH="1">
            <a:off x="1619672" y="5017532"/>
            <a:ext cx="2664296" cy="151656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1" name="150 CuadroTexto"/>
          <p:cNvSpPr txBox="1"/>
          <p:nvPr/>
        </p:nvSpPr>
        <p:spPr>
          <a:xfrm>
            <a:off x="3276600" y="304800"/>
            <a:ext cx="25099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a-ES" sz="1400" b="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Scope</a:t>
            </a:r>
            <a:r>
              <a:rPr lang="ca-ES" sz="1400" b="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of </a:t>
            </a:r>
            <a:r>
              <a:rPr lang="ca-ES" sz="1400" b="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</a:t>
            </a:r>
            <a:r>
              <a:rPr lang="ca-ES" sz="1400" b="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ca-ES" sz="1400" b="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TestBed15 </a:t>
            </a:r>
            <a:r>
              <a:rPr lang="ca-ES" sz="1400" b="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work</a:t>
            </a:r>
            <a:endParaRPr lang="ca-ES" sz="1400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55" name="154 CuadroTexto"/>
          <p:cNvSpPr txBox="1"/>
          <p:nvPr/>
        </p:nvSpPr>
        <p:spPr>
          <a:xfrm>
            <a:off x="249115" y="188640"/>
            <a:ext cx="13513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ca-ES" sz="1400" b="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Other</a:t>
            </a:r>
            <a:r>
              <a:rPr lang="ca-ES" sz="1400" b="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br>
              <a:rPr lang="ca-ES" sz="1400" b="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ca-ES" sz="1400" b="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OGC API </a:t>
            </a:r>
            <a:r>
              <a:rPr lang="ca-ES" sz="1400" b="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work</a:t>
            </a:r>
            <a:endParaRPr lang="ca-ES" sz="1400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74" name="173 Conector recto"/>
          <p:cNvCxnSpPr/>
          <p:nvPr/>
        </p:nvCxnSpPr>
        <p:spPr>
          <a:xfrm>
            <a:off x="7308304" y="260648"/>
            <a:ext cx="0" cy="6336704"/>
          </a:xfrm>
          <a:prstGeom prst="line">
            <a:avLst/>
          </a:prstGeom>
          <a:ln>
            <a:solidFill>
              <a:srgbClr val="FF0000"/>
            </a:solidFill>
            <a:prstDash val="lgDashDot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58 CuadroTexto"/>
          <p:cNvSpPr txBox="1"/>
          <p:nvPr/>
        </p:nvSpPr>
        <p:spPr>
          <a:xfrm>
            <a:off x="6300192" y="3717032"/>
            <a:ext cx="936104" cy="58477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b="0" dirty="0" smtClean="0"/>
              <a:t>Maps </a:t>
            </a:r>
            <a:r>
              <a:rPr lang="en-US" sz="1600" b="0" dirty="0" err="1" smtClean="0"/>
              <a:t>StyleId</a:t>
            </a:r>
            <a:endParaRPr lang="en-US" sz="1600" b="0" dirty="0"/>
          </a:p>
        </p:txBody>
      </p:sp>
      <p:sp>
        <p:nvSpPr>
          <p:cNvPr id="115" name="114 CuadroTexto"/>
          <p:cNvSpPr txBox="1"/>
          <p:nvPr/>
        </p:nvSpPr>
        <p:spPr>
          <a:xfrm>
            <a:off x="5724128" y="5229200"/>
            <a:ext cx="936104" cy="58477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b="0" dirty="0" smtClean="0"/>
              <a:t>Maps core</a:t>
            </a:r>
          </a:p>
        </p:txBody>
      </p:sp>
      <p:cxnSp>
        <p:nvCxnSpPr>
          <p:cNvPr id="117" name="116 Conector recto de flecha"/>
          <p:cNvCxnSpPr>
            <a:stCxn id="59" idx="2"/>
            <a:endCxn id="115" idx="0"/>
          </p:cNvCxnSpPr>
          <p:nvPr/>
        </p:nvCxnSpPr>
        <p:spPr>
          <a:xfrm flipH="1">
            <a:off x="6192180" y="4301807"/>
            <a:ext cx="576064" cy="927393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64 CuadroTexto"/>
          <p:cNvSpPr txBox="1"/>
          <p:nvPr/>
        </p:nvSpPr>
        <p:spPr>
          <a:xfrm>
            <a:off x="179512" y="5739155"/>
            <a:ext cx="1440160" cy="5847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b="0" dirty="0" smtClean="0"/>
              <a:t>Common core</a:t>
            </a:r>
            <a:endParaRPr lang="en-US" sz="1600" b="0" dirty="0"/>
          </a:p>
        </p:txBody>
      </p:sp>
      <p:cxnSp>
        <p:nvCxnSpPr>
          <p:cNvPr id="80" name="79 Conector recto de flecha"/>
          <p:cNvCxnSpPr>
            <a:stCxn id="7" idx="2"/>
            <a:endCxn id="65" idx="0"/>
          </p:cNvCxnSpPr>
          <p:nvPr/>
        </p:nvCxnSpPr>
        <p:spPr>
          <a:xfrm>
            <a:off x="899592" y="5461575"/>
            <a:ext cx="0" cy="277580"/>
          </a:xfrm>
          <a:prstGeom prst="straightConnector1">
            <a:avLst/>
          </a:prstGeom>
          <a:ln w="28575">
            <a:prstDash val="soli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84 CuadroTexto"/>
          <p:cNvSpPr txBox="1"/>
          <p:nvPr/>
        </p:nvSpPr>
        <p:spPr>
          <a:xfrm>
            <a:off x="7452320" y="2708920"/>
            <a:ext cx="936104" cy="58477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b="0" dirty="0" smtClean="0"/>
              <a:t>Maps Map</a:t>
            </a:r>
            <a:endParaRPr lang="en-US" sz="1600" b="0" dirty="0"/>
          </a:p>
        </p:txBody>
      </p:sp>
      <p:cxnSp>
        <p:nvCxnSpPr>
          <p:cNvPr id="86" name="85 Conector recto de flecha"/>
          <p:cNvCxnSpPr>
            <a:stCxn id="85" idx="2"/>
            <a:endCxn id="59" idx="0"/>
          </p:cNvCxnSpPr>
          <p:nvPr/>
        </p:nvCxnSpPr>
        <p:spPr>
          <a:xfrm flipH="1">
            <a:off x="6768244" y="3293695"/>
            <a:ext cx="1152128" cy="423337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87 CuadroTexto"/>
          <p:cNvSpPr txBox="1"/>
          <p:nvPr/>
        </p:nvSpPr>
        <p:spPr>
          <a:xfrm>
            <a:off x="7308304" y="190381"/>
            <a:ext cx="17281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ca-ES" sz="1400" b="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OGC </a:t>
            </a:r>
            <a:r>
              <a:rPr lang="ca-ES" sz="1400" b="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WMS.SWG</a:t>
            </a:r>
            <a:r>
              <a:rPr lang="ca-ES" sz="1400" b="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ca-ES" sz="1400" b="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future</a:t>
            </a:r>
            <a:r>
              <a:rPr lang="ca-ES" sz="1400" b="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ca-ES" sz="1400" b="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work</a:t>
            </a:r>
            <a:endParaRPr lang="ca-ES" sz="1400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6" name="95 CuadroTexto"/>
          <p:cNvSpPr txBox="1"/>
          <p:nvPr/>
        </p:nvSpPr>
        <p:spPr>
          <a:xfrm>
            <a:off x="8028384" y="1844824"/>
            <a:ext cx="936104" cy="58477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b="0" dirty="0" smtClean="0"/>
              <a:t>Maps Info</a:t>
            </a:r>
            <a:endParaRPr lang="en-US" sz="1600" b="0" dirty="0"/>
          </a:p>
        </p:txBody>
      </p:sp>
      <p:cxnSp>
        <p:nvCxnSpPr>
          <p:cNvPr id="97" name="96 Conector recto"/>
          <p:cNvCxnSpPr/>
          <p:nvPr/>
        </p:nvCxnSpPr>
        <p:spPr>
          <a:xfrm>
            <a:off x="1835696" y="260648"/>
            <a:ext cx="0" cy="6336704"/>
          </a:xfrm>
          <a:prstGeom prst="line">
            <a:avLst/>
          </a:prstGeom>
          <a:ln>
            <a:solidFill>
              <a:srgbClr val="FF0000"/>
            </a:solidFill>
            <a:prstDash val="lgDashDot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99 CuadroTexto"/>
          <p:cNvSpPr txBox="1"/>
          <p:nvPr/>
        </p:nvSpPr>
        <p:spPr>
          <a:xfrm>
            <a:off x="2483768" y="4437112"/>
            <a:ext cx="792088" cy="58477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b="0" dirty="0" smtClean="0"/>
              <a:t>Tiles </a:t>
            </a:r>
            <a:r>
              <a:rPr lang="en-US" sz="1600" b="0" dirty="0" err="1" smtClean="0"/>
              <a:t>TMXS</a:t>
            </a:r>
            <a:endParaRPr lang="en-US" sz="1600" b="0" dirty="0" smtClean="0"/>
          </a:p>
        </p:txBody>
      </p:sp>
      <p:sp>
        <p:nvSpPr>
          <p:cNvPr id="103" name="102 CuadroTexto"/>
          <p:cNvSpPr txBox="1"/>
          <p:nvPr/>
        </p:nvSpPr>
        <p:spPr>
          <a:xfrm>
            <a:off x="4283968" y="4725144"/>
            <a:ext cx="792088" cy="58477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b="0" dirty="0" smtClean="0"/>
              <a:t>Tiles core</a:t>
            </a:r>
          </a:p>
        </p:txBody>
      </p:sp>
      <p:sp>
        <p:nvSpPr>
          <p:cNvPr id="105" name="104 CuadroTexto"/>
          <p:cNvSpPr txBox="1"/>
          <p:nvPr/>
        </p:nvSpPr>
        <p:spPr>
          <a:xfrm>
            <a:off x="1979712" y="3429000"/>
            <a:ext cx="1080120" cy="58477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b="0" dirty="0" smtClean="0"/>
              <a:t>Tiles </a:t>
            </a:r>
            <a:br>
              <a:rPr lang="en-US" sz="1600" b="0" dirty="0" smtClean="0"/>
            </a:br>
            <a:r>
              <a:rPr lang="en-US" sz="1600" b="0" dirty="0" smtClean="0"/>
              <a:t>Multi-tile</a:t>
            </a:r>
          </a:p>
        </p:txBody>
      </p:sp>
      <p:cxnSp>
        <p:nvCxnSpPr>
          <p:cNvPr id="112" name="111 Conector recto de flecha"/>
          <p:cNvCxnSpPr>
            <a:stCxn id="96" idx="2"/>
            <a:endCxn id="85" idx="0"/>
          </p:cNvCxnSpPr>
          <p:nvPr/>
        </p:nvCxnSpPr>
        <p:spPr>
          <a:xfrm flipH="1">
            <a:off x="7920372" y="2429599"/>
            <a:ext cx="576064" cy="279321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118 CuadroTexto"/>
          <p:cNvSpPr txBox="1"/>
          <p:nvPr/>
        </p:nvSpPr>
        <p:spPr>
          <a:xfrm>
            <a:off x="2699792" y="2204864"/>
            <a:ext cx="1296144" cy="83099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b="0" dirty="0" smtClean="0"/>
              <a:t>Tiles collections</a:t>
            </a:r>
          </a:p>
          <a:p>
            <a:pPr algn="ctr"/>
            <a:r>
              <a:rPr lang="en-US" sz="1600" b="0" dirty="0" smtClean="0"/>
              <a:t>Multi-tile</a:t>
            </a:r>
          </a:p>
        </p:txBody>
      </p:sp>
      <p:sp>
        <p:nvSpPr>
          <p:cNvPr id="123" name="122 CuadroTexto"/>
          <p:cNvSpPr txBox="1"/>
          <p:nvPr/>
        </p:nvSpPr>
        <p:spPr>
          <a:xfrm>
            <a:off x="8100392" y="4077072"/>
            <a:ext cx="864096" cy="58477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b="0" dirty="0" smtClean="0"/>
              <a:t>Tiles info</a:t>
            </a:r>
          </a:p>
        </p:txBody>
      </p:sp>
      <p:cxnSp>
        <p:nvCxnSpPr>
          <p:cNvPr id="145" name="144 Conector recto de flecha"/>
          <p:cNvCxnSpPr>
            <a:stCxn id="4" idx="2"/>
            <a:endCxn id="103" idx="0"/>
          </p:cNvCxnSpPr>
          <p:nvPr/>
        </p:nvCxnSpPr>
        <p:spPr>
          <a:xfrm flipH="1">
            <a:off x="4680012" y="1627714"/>
            <a:ext cx="684076" cy="3097430"/>
          </a:xfrm>
          <a:prstGeom prst="straightConnector1">
            <a:avLst/>
          </a:prstGeom>
          <a:ln w="28575"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152 Conector recto de flecha"/>
          <p:cNvCxnSpPr>
            <a:stCxn id="3" idx="2"/>
            <a:endCxn id="103" idx="0"/>
          </p:cNvCxnSpPr>
          <p:nvPr/>
        </p:nvCxnSpPr>
        <p:spPr>
          <a:xfrm>
            <a:off x="4355976" y="1627714"/>
            <a:ext cx="324036" cy="3097430"/>
          </a:xfrm>
          <a:prstGeom prst="straightConnector1">
            <a:avLst/>
          </a:prstGeom>
          <a:ln w="28575"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156 Conector recto de flecha"/>
          <p:cNvCxnSpPr>
            <a:stCxn id="8" idx="2"/>
            <a:endCxn id="103" idx="0"/>
          </p:cNvCxnSpPr>
          <p:nvPr/>
        </p:nvCxnSpPr>
        <p:spPr>
          <a:xfrm>
            <a:off x="3851920" y="4013775"/>
            <a:ext cx="828092" cy="711369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159 Conector recto de flecha"/>
          <p:cNvCxnSpPr>
            <a:stCxn id="105" idx="2"/>
            <a:endCxn id="103" idx="0"/>
          </p:cNvCxnSpPr>
          <p:nvPr/>
        </p:nvCxnSpPr>
        <p:spPr>
          <a:xfrm>
            <a:off x="2519772" y="4013775"/>
            <a:ext cx="2160240" cy="711369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162 Conector recto de flecha"/>
          <p:cNvCxnSpPr>
            <a:stCxn id="119" idx="2"/>
            <a:endCxn id="8" idx="0"/>
          </p:cNvCxnSpPr>
          <p:nvPr/>
        </p:nvCxnSpPr>
        <p:spPr>
          <a:xfrm>
            <a:off x="3347864" y="3035861"/>
            <a:ext cx="504056" cy="393139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166 Conector recto de flecha"/>
          <p:cNvCxnSpPr>
            <a:stCxn id="123" idx="1"/>
            <a:endCxn id="103" idx="0"/>
          </p:cNvCxnSpPr>
          <p:nvPr/>
        </p:nvCxnSpPr>
        <p:spPr>
          <a:xfrm flipH="1">
            <a:off x="4680012" y="4369460"/>
            <a:ext cx="3420380" cy="355684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8" name="177 CuadroTexto"/>
          <p:cNvSpPr txBox="1"/>
          <p:nvPr/>
        </p:nvSpPr>
        <p:spPr>
          <a:xfrm>
            <a:off x="7524328" y="1148169"/>
            <a:ext cx="864096" cy="374571"/>
          </a:xfrm>
          <a:prstGeom prst="flowChartAlternate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b="0" dirty="0" smtClean="0"/>
              <a:t>Map</a:t>
            </a:r>
          </a:p>
        </p:txBody>
      </p:sp>
      <p:cxnSp>
        <p:nvCxnSpPr>
          <p:cNvPr id="179" name="178 Conector recto de flecha"/>
          <p:cNvCxnSpPr>
            <a:stCxn id="178" idx="2"/>
            <a:endCxn id="85" idx="0"/>
          </p:cNvCxnSpPr>
          <p:nvPr/>
        </p:nvCxnSpPr>
        <p:spPr>
          <a:xfrm flipH="1">
            <a:off x="7920372" y="1522740"/>
            <a:ext cx="36004" cy="1186180"/>
          </a:xfrm>
          <a:prstGeom prst="straightConnector1">
            <a:avLst/>
          </a:prstGeom>
          <a:ln w="28575"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186 Conector recto de flecha"/>
          <p:cNvCxnSpPr>
            <a:stCxn id="115" idx="1"/>
            <a:endCxn id="7" idx="3"/>
          </p:cNvCxnSpPr>
          <p:nvPr/>
        </p:nvCxnSpPr>
        <p:spPr>
          <a:xfrm flipH="1" flipV="1">
            <a:off x="1619672" y="5169188"/>
            <a:ext cx="4104456" cy="35240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43 CuadroTexto"/>
          <p:cNvSpPr txBox="1"/>
          <p:nvPr/>
        </p:nvSpPr>
        <p:spPr>
          <a:xfrm>
            <a:off x="4932040" y="3717032"/>
            <a:ext cx="1296144" cy="58477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b="0" dirty="0" smtClean="0"/>
              <a:t>Maps collections</a:t>
            </a:r>
          </a:p>
        </p:txBody>
      </p:sp>
      <p:cxnSp>
        <p:nvCxnSpPr>
          <p:cNvPr id="45" name="44 Conector recto de flecha"/>
          <p:cNvCxnSpPr>
            <a:stCxn id="44" idx="2"/>
            <a:endCxn id="115" idx="0"/>
          </p:cNvCxnSpPr>
          <p:nvPr/>
        </p:nvCxnSpPr>
        <p:spPr>
          <a:xfrm>
            <a:off x="5580112" y="4301807"/>
            <a:ext cx="612068" cy="927393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48 Conector recto de flecha"/>
          <p:cNvCxnSpPr>
            <a:stCxn id="119" idx="2"/>
            <a:endCxn id="105" idx="0"/>
          </p:cNvCxnSpPr>
          <p:nvPr/>
        </p:nvCxnSpPr>
        <p:spPr>
          <a:xfrm flipH="1">
            <a:off x="2519772" y="3035861"/>
            <a:ext cx="828092" cy="393139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42 Título"/>
          <p:cNvSpPr>
            <a:spLocks noGrp="1"/>
          </p:cNvSpPr>
          <p:nvPr>
            <p:ph type="title" idx="4294967295"/>
          </p:nvPr>
        </p:nvSpPr>
        <p:spPr>
          <a:xfrm>
            <a:off x="1752600" y="6172200"/>
            <a:ext cx="8074025" cy="685800"/>
          </a:xfrm>
        </p:spPr>
        <p:txBody>
          <a:bodyPr/>
          <a:lstStyle/>
          <a:p>
            <a:r>
              <a:rPr lang="ca-ES" dirty="0" err="1" smtClean="0"/>
              <a:t>Core</a:t>
            </a:r>
            <a:r>
              <a:rPr lang="ca-ES" baseline="0" dirty="0" smtClean="0"/>
              <a:t> y </a:t>
            </a:r>
            <a:r>
              <a:rPr lang="ca-ES" baseline="0" dirty="0" err="1" smtClean="0"/>
              <a:t>extensiones</a:t>
            </a:r>
            <a:endParaRPr lang="ca-ES" dirty="0"/>
          </a:p>
        </p:txBody>
      </p:sp>
      <p:sp>
        <p:nvSpPr>
          <p:cNvPr id="46" name="45 Marcador de pie de página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Copyright © 2019 Open Geospatial Consortium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 dirty="0" err="1" smtClean="0"/>
              <a:t>Sigue</a:t>
            </a:r>
            <a:r>
              <a:rPr lang="ca-ES" dirty="0" smtClean="0"/>
              <a:t> los </a:t>
            </a:r>
            <a:r>
              <a:rPr lang="ca-ES" dirty="0" err="1" smtClean="0"/>
              <a:t>enlaces</a:t>
            </a:r>
            <a:endParaRPr lang="ca-ES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ca-ES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Copyright © 2019 Open Geospatial Consortium</a:t>
            </a:r>
            <a:endParaRPr lang="en-US"/>
          </a:p>
        </p:txBody>
      </p:sp>
      <p:pic>
        <p:nvPicPr>
          <p:cNvPr id="25603" name="Picture 3" descr="D:\docs\Recerca\WMS_RWG\TiledWMS\OpenAPI\GitHubD014\images\relMapTiles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381000" y="914400"/>
            <a:ext cx="9525000" cy="95250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4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-2.0259E-6 L 3.33333E-6 -0.51619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2560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5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429000" y="1295400"/>
            <a:ext cx="5410200" cy="28164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 dirty="0" smtClean="0"/>
              <a:t>¿Para </a:t>
            </a:r>
            <a:r>
              <a:rPr lang="ca-ES" dirty="0" err="1" smtClean="0"/>
              <a:t>cuando</a:t>
            </a:r>
            <a:r>
              <a:rPr lang="ca-ES" dirty="0" smtClean="0"/>
              <a:t>?</a:t>
            </a:r>
            <a:endParaRPr lang="ca-ES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a-ES" dirty="0" smtClean="0"/>
              <a:t>OGC API </a:t>
            </a:r>
            <a:r>
              <a:rPr lang="ca-ES" dirty="0" smtClean="0"/>
              <a:t>–</a:t>
            </a:r>
            <a:r>
              <a:rPr lang="ca-ES" dirty="0" smtClean="0"/>
              <a:t> </a:t>
            </a:r>
            <a:r>
              <a:rPr lang="ca-ES" dirty="0" err="1" smtClean="0"/>
              <a:t>Common</a:t>
            </a:r>
            <a:r>
              <a:rPr lang="ca-ES" dirty="0" smtClean="0"/>
              <a:t> </a:t>
            </a:r>
          </a:p>
          <a:p>
            <a:pPr lvl="1"/>
            <a:r>
              <a:rPr lang="ca-ES" dirty="0" smtClean="0"/>
              <a:t>En 6 meses?</a:t>
            </a:r>
          </a:p>
          <a:p>
            <a:pPr lvl="1"/>
            <a:endParaRPr lang="ca-ES" dirty="0" smtClean="0"/>
          </a:p>
          <a:p>
            <a:r>
              <a:rPr lang="ca-ES" dirty="0" smtClean="0"/>
              <a:t>OGC API – </a:t>
            </a:r>
            <a:r>
              <a:rPr lang="ca-ES" dirty="0" err="1" smtClean="0"/>
              <a:t>Tiles</a:t>
            </a:r>
            <a:endParaRPr lang="ca-ES" dirty="0" smtClean="0"/>
          </a:p>
          <a:p>
            <a:r>
              <a:rPr lang="ca-ES" dirty="0" smtClean="0"/>
              <a:t>OGC API </a:t>
            </a:r>
            <a:r>
              <a:rPr lang="ca-ES" dirty="0" smtClean="0"/>
              <a:t>–</a:t>
            </a:r>
            <a:r>
              <a:rPr lang="ca-ES" dirty="0" smtClean="0"/>
              <a:t> </a:t>
            </a:r>
            <a:r>
              <a:rPr lang="ca-ES" dirty="0" err="1" smtClean="0"/>
              <a:t>Maps</a:t>
            </a:r>
            <a:endParaRPr lang="ca-ES" dirty="0" smtClean="0"/>
          </a:p>
          <a:p>
            <a:pPr lvl="1"/>
            <a:r>
              <a:rPr lang="ca-ES" dirty="0" smtClean="0"/>
              <a:t>En 1 </a:t>
            </a:r>
            <a:r>
              <a:rPr lang="ca-ES" dirty="0" err="1" smtClean="0"/>
              <a:t>año</a:t>
            </a:r>
            <a:r>
              <a:rPr lang="ca-ES" dirty="0" smtClean="0"/>
              <a:t>?</a:t>
            </a:r>
          </a:p>
          <a:p>
            <a:pPr lvl="1"/>
            <a:endParaRPr lang="ca-ES" dirty="0" smtClean="0"/>
          </a:p>
          <a:p>
            <a:r>
              <a:rPr lang="ca-ES" dirty="0" smtClean="0"/>
              <a:t>OGC API </a:t>
            </a:r>
            <a:r>
              <a:rPr lang="ca-ES" dirty="0" smtClean="0"/>
              <a:t>– </a:t>
            </a:r>
            <a:r>
              <a:rPr lang="ca-ES" dirty="0" smtClean="0"/>
              <a:t> Coverages</a:t>
            </a:r>
          </a:p>
          <a:p>
            <a:pPr lvl="1"/>
            <a:r>
              <a:rPr lang="ca-ES" dirty="0" smtClean="0"/>
              <a:t>?</a:t>
            </a:r>
          </a:p>
          <a:p>
            <a:r>
              <a:rPr lang="ca-ES" dirty="0" smtClean="0"/>
              <a:t>OGC API </a:t>
            </a:r>
            <a:r>
              <a:rPr lang="ca-ES" dirty="0" smtClean="0"/>
              <a:t>– </a:t>
            </a:r>
            <a:r>
              <a:rPr lang="ca-ES" dirty="0" smtClean="0"/>
              <a:t> Processes</a:t>
            </a:r>
          </a:p>
          <a:p>
            <a:pPr lvl="1"/>
            <a:r>
              <a:rPr lang="ca-ES" dirty="0" smtClean="0"/>
              <a:t>?</a:t>
            </a:r>
            <a:endParaRPr lang="ca-ES" dirty="0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Copyright © 2019 Open Geospatial Consortium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08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762000" y="3962400"/>
            <a:ext cx="7772400" cy="1143000"/>
          </a:xfrm>
        </p:spPr>
        <p:txBody>
          <a:bodyPr/>
          <a:lstStyle/>
          <a:p>
            <a:pPr lvl="1">
              <a:defRPr/>
            </a:pPr>
            <a:r>
              <a:rPr lang="es-ES" dirty="0" smtClean="0"/>
              <a:t>Gracias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447800" y="5257800"/>
            <a:ext cx="6400800" cy="1371600"/>
          </a:xfrm>
        </p:spPr>
        <p:txBody>
          <a:bodyPr/>
          <a:lstStyle/>
          <a:p>
            <a:r>
              <a:rPr lang="es-ES" sz="2000" dirty="0" err="1" smtClean="0">
                <a:cs typeface="Arial" pitchFamily="34" charset="0"/>
              </a:rPr>
              <a:t>JIIDE</a:t>
            </a:r>
            <a:r>
              <a:rPr lang="es-ES" sz="2000" dirty="0" smtClean="0">
                <a:cs typeface="Arial" pitchFamily="34" charset="0"/>
              </a:rPr>
              <a:t> </a:t>
            </a:r>
            <a:r>
              <a:rPr lang="es-ES" sz="2000" dirty="0" smtClean="0">
                <a:cs typeface="Arial" pitchFamily="34" charset="0"/>
              </a:rPr>
              <a:t>2019, </a:t>
            </a:r>
            <a:r>
              <a:rPr lang="es-ES" sz="2000" dirty="0" err="1" smtClean="0">
                <a:cs typeface="Arial" pitchFamily="34" charset="0"/>
              </a:rPr>
              <a:t>Caceres</a:t>
            </a:r>
            <a:endParaRPr lang="es-ES" sz="2000" dirty="0" smtClean="0">
              <a:cs typeface="Arial" pitchFamily="34" charset="0"/>
            </a:endParaRPr>
          </a:p>
          <a:p>
            <a:r>
              <a:rPr lang="es-ES" sz="2000" dirty="0" smtClean="0">
                <a:cs typeface="Arial" pitchFamily="34" charset="0"/>
              </a:rPr>
              <a:t>Joan.Maso@uab.cat</a:t>
            </a:r>
          </a:p>
        </p:txBody>
      </p:sp>
      <p:sp>
        <p:nvSpPr>
          <p:cNvPr id="6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Copyright © 2019 Open Geospatial Consortium</a:t>
            </a:r>
            <a:endParaRPr lang="en-US"/>
          </a:p>
        </p:txBody>
      </p:sp>
      <p:pic>
        <p:nvPicPr>
          <p:cNvPr id="3077" name="Picture 1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1000" y="2413000"/>
            <a:ext cx="3430588" cy="162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029200" y="1447800"/>
            <a:ext cx="3375739" cy="2362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GC_PowerPoint_Template">
  <a:themeElements>
    <a:clrScheme name="">
      <a:dk1>
        <a:srgbClr val="000000"/>
      </a:dk1>
      <a:lt1>
        <a:srgbClr val="FFFFCC"/>
      </a:lt1>
      <a:dk2>
        <a:srgbClr val="092E5C"/>
      </a:dk2>
      <a:lt2>
        <a:srgbClr val="666633"/>
      </a:lt2>
      <a:accent1>
        <a:srgbClr val="339933"/>
      </a:accent1>
      <a:accent2>
        <a:srgbClr val="800000"/>
      </a:accent2>
      <a:accent3>
        <a:srgbClr val="FFFFE2"/>
      </a:accent3>
      <a:accent4>
        <a:srgbClr val="000000"/>
      </a:accent4>
      <a:accent5>
        <a:srgbClr val="ADCAAD"/>
      </a:accent5>
      <a:accent6>
        <a:srgbClr val="730000"/>
      </a:accent6>
      <a:hlink>
        <a:srgbClr val="0033CC"/>
      </a:hlink>
      <a:folHlink>
        <a:srgbClr val="FFCC66"/>
      </a:folHlink>
    </a:clrScheme>
    <a:fontScheme name="OGC_PowerPoint_Templa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12700" cap="flat" cmpd="sng" algn="ctr">
          <a:solidFill>
            <a:srgbClr val="969696"/>
          </a:solidFill>
          <a:prstDash val="solid"/>
          <a:round/>
          <a:headEnd type="none" w="med" len="med"/>
          <a:tailEnd type="none" w="med" len="med"/>
        </a:ln>
        <a:effectLst/>
      </a:spPr>
      <a:bodyPr rtlCol="0" anchor="ctr"/>
      <a:lstStyle>
        <a:defPPr algn="ctr">
          <a:defRPr/>
        </a:defPPr>
      </a:lstStyle>
    </a:spDef>
    <a:lnDef>
      <a:spPr bwMode="auto">
        <a:noFill/>
        <a:ln w="12700" cap="flat" cmpd="sng" algn="ctr">
          <a:solidFill>
            <a:srgbClr val="969696"/>
          </a:solidFill>
          <a:prstDash val="solid"/>
          <a:round/>
          <a:headEnd type="none" w="med" len="med"/>
          <a:tailEnd type="none" w="med" len="med"/>
        </a:ln>
        <a:effectLst/>
      </a:spPr>
      <a:bodyPr/>
      <a:lstStyle/>
    </a:lnDef>
    <a:txDef>
      <a:spPr>
        <a:noFill/>
      </a:spPr>
      <a:bodyPr wrap="none" rtlCol="0">
        <a:noAutofit/>
      </a:bodyPr>
      <a:lstStyle>
        <a:defPPr>
          <a:defRPr dirty="0" err="1" smtClean="0"/>
        </a:defPPr>
      </a:lstStyle>
    </a:txDef>
  </a:objectDefaults>
  <a:extraClrSchemeLst>
    <a:extraClrScheme>
      <a:clrScheme name="OGC_PowerPoint_Templ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GC_PowerPoint_Templat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GC_PowerPoint_Templat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GC_PowerPoint_Templat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GC_PowerPoint_Templat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GC_PowerPoint_Templat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GC_PowerPoint_Templat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5347</TotalTime>
  <Words>360</Words>
  <Application>Microsoft Office PowerPoint</Application>
  <PresentationFormat>Presentación en pantalla (4:3)</PresentationFormat>
  <Paragraphs>94</Paragraphs>
  <Slides>13</Slides>
  <Notes>2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4" baseType="lpstr">
      <vt:lpstr>OGC_PowerPoint_Template</vt:lpstr>
      <vt:lpstr>Reciente aprobación de OGC API Features y iniciativas para mapas, teselas, coverages, procesos</vt:lpstr>
      <vt:lpstr>11 años intentando hacer REST</vt:lpstr>
      <vt:lpstr>Y de repente…</vt:lpstr>
      <vt:lpstr>WFS3.0: Un Proceso abierto</vt:lpstr>
      <vt:lpstr>https://www.opengeospatial.org/standards/ogcapi-features</vt:lpstr>
      <vt:lpstr>¿Que contiene?</vt:lpstr>
      <vt:lpstr>Dos aproximaciones</vt:lpstr>
      <vt:lpstr>¿...y los demás?</vt:lpstr>
      <vt:lpstr>Diapositiva 9</vt:lpstr>
      <vt:lpstr>Core y extensiones</vt:lpstr>
      <vt:lpstr>Sigue los enlaces</vt:lpstr>
      <vt:lpstr>¿Para cuando?</vt:lpstr>
      <vt:lpstr>Gracias</vt:lpstr>
    </vt:vector>
  </TitlesOfParts>
  <Company>OGC</Company>
  <LinksUpToDate>false</LinksUpToDate>
  <SharedDoc>false</SharedDoc>
  <HyperlinkBase/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>OGC TC/PC</dc:subject>
  <dc:creator>Carl Reed</dc:creator>
  <cp:lastModifiedBy>Joan Maso</cp:lastModifiedBy>
  <cp:revision>91</cp:revision>
  <cp:lastPrinted>2003-02-03T21:59:32Z</cp:lastPrinted>
  <dcterms:created xsi:type="dcterms:W3CDTF">2009-10-20T16:54:31Z</dcterms:created>
  <dcterms:modified xsi:type="dcterms:W3CDTF">2019-10-24T18:37:41Z</dcterms:modified>
</cp:coreProperties>
</file>