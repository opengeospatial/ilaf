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">
  <p:sldMasterIdLst>
    <p:sldMasterId id="2147483654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2" r:id="rId3"/>
    <p:sldId id="282" r:id="rId4"/>
    <p:sldId id="287" r:id="rId5"/>
    <p:sldId id="283" r:id="rId6"/>
    <p:sldId id="284" r:id="rId7"/>
    <p:sldId id="277" r:id="rId8"/>
    <p:sldId id="285" r:id="rId9"/>
    <p:sldId id="281" r:id="rId10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1" autoAdjust="0"/>
    <p:restoredTop sz="91901" autoAdjust="0"/>
  </p:normalViewPr>
  <p:slideViewPr>
    <p:cSldViewPr>
      <p:cViewPr>
        <p:scale>
          <a:sx n="70" d="100"/>
          <a:sy n="70" d="100"/>
        </p:scale>
        <p:origin x="-1056" y="-78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35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5F8594B-9A1A-45E1-9B24-86A06EFD716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AB3AEDD5-A632-4517-AA20-E22C57374F1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dee.es/web/guest/jornadas-detalle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ternal.opengeospatial.org/twiki_public/ILAFpublic/ReunionJIIDE2019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a-ES" dirty="0" smtClean="0">
                <a:hlinkClick r:id="rId3"/>
              </a:rPr>
              <a:t>https://www.idee.es/web/guest/jornadas-detalle</a:t>
            </a:r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a-ES" dirty="0" smtClean="0">
                <a:hlinkClick r:id="rId3"/>
              </a:rPr>
              <a:t>https://external.opengeospatial.org/twiki_public/ILAFpublic/ReunionJIIDE2019</a:t>
            </a:r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altLang="es-ES" sz="1400" dirty="0" smtClean="0"/>
              <a:t>Una página wiki pública: </a:t>
            </a:r>
          </a:p>
          <a:p>
            <a:pPr>
              <a:buFont typeface="Times New Roman" pitchFamily="18" charset="0"/>
              <a:buNone/>
            </a:pPr>
            <a:r>
              <a:rPr lang="es-ES" altLang="es-ES" sz="1400" dirty="0" smtClean="0"/>
              <a:t>	</a:t>
            </a:r>
            <a:r>
              <a:rPr lang="es-ES" altLang="es-ES" sz="1200" dirty="0" smtClean="0"/>
              <a:t>http://external.opengeospatial.org/twiki_public/bin/view/ILAFpublic/WebHome</a:t>
            </a:r>
            <a:r>
              <a:rPr lang="es-ES" altLang="es-ES" sz="1400" dirty="0" smtClean="0"/>
              <a:t> </a:t>
            </a:r>
            <a:endParaRPr lang="es-ES" altLang="es-ES" sz="1200" dirty="0" smtClean="0"/>
          </a:p>
          <a:p>
            <a:endParaRPr lang="es-ES" altLang="es-ES" sz="1200" dirty="0" smtClean="0"/>
          </a:p>
          <a:p>
            <a:r>
              <a:rPr lang="es-ES" altLang="es-ES" sz="1400" dirty="0" smtClean="0"/>
              <a:t>Un espacio de trabajo reservado en el portal OGC (sólo miembros OGC): </a:t>
            </a:r>
          </a:p>
          <a:p>
            <a:pPr>
              <a:buFont typeface="Times New Roman" pitchFamily="18" charset="0"/>
              <a:buNone/>
            </a:pPr>
            <a:r>
              <a:rPr lang="es-ES" altLang="es-ES" sz="1400" dirty="0" smtClean="0"/>
              <a:t>		</a:t>
            </a:r>
            <a:r>
              <a:rPr lang="es-ES" altLang="es-ES" sz="1200" dirty="0" smtClean="0"/>
              <a:t>http://portal.opengeospatial.org/?m=projects&amp;a=view&amp;project_id=354</a:t>
            </a:r>
            <a:r>
              <a:rPr lang="es-ES" altLang="es-ES" sz="1400" dirty="0" smtClean="0"/>
              <a:t> </a:t>
            </a:r>
          </a:p>
          <a:p>
            <a:endParaRPr lang="ca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3AEDD5-A632-4517-AA20-E22C57374F1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 sz="800">
                <a:solidFill>
                  <a:srgbClr val="FFFFFF"/>
                </a:solidFill>
                <a:latin typeface="Arial" pitchFamily="34" charset="0"/>
                <a:cs typeface="+mn-cs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8" name="Picture 4" descr="Related image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4191000"/>
            <a:ext cx="2667000" cy="2667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4F35F-AD30-46E7-94F7-810A4C2F46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3BD6C-F06F-4DEE-9842-F855BE86C32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6587-890D-4806-8DE9-E3AC0E61BDD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143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81200"/>
            <a:ext cx="4040188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4143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81200"/>
            <a:ext cx="4041775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103B9-1C88-40A6-A93F-37C42AE3D07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0B55EF-B4E2-416D-A849-00FE0778B65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C2EB1-A5EB-4C2E-882D-65CE941D6BE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7A20D-20FE-4E0B-AE9E-82718B17D5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28DF1-5C79-486C-8742-B70613CB57C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3E5A4-ACBB-40D2-A347-C4F6CEED2A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CE280-43D3-4AC4-942F-8FCABB00C9B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0740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E70B134C-0201-4731-B624-FDB423C47ED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>
                <a:solidFill>
                  <a:schemeClr val="tx2"/>
                </a:solidFill>
                <a:latin typeface="Arial" pitchFamily="34" charset="0"/>
                <a:cs typeface="+mn-cs"/>
              </a:rPr>
              <a:t>®</a:t>
            </a:r>
          </a:p>
        </p:txBody>
      </p:sp>
      <p:pic>
        <p:nvPicPr>
          <p:cNvPr id="9" name="Picture 4" descr="Related imag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29600" y="0"/>
            <a:ext cx="914400" cy="914400"/>
          </a:xfrm>
          <a:prstGeom prst="rect">
            <a:avLst/>
          </a:prstGeom>
          <a:noFill/>
        </p:spPr>
      </p:pic>
      <p:pic>
        <p:nvPicPr>
          <p:cNvPr id="10" name="Picture 12"/>
          <p:cNvPicPr>
            <a:picLocks noChangeAspect="1" noChangeArrowheads="1"/>
          </p:cNvPicPr>
          <p:nvPr userDrawn="1"/>
        </p:nvPicPr>
        <p:blipFill>
          <a:blip r:embed="rId15" cstate="print"/>
          <a:srcRect l="4695" t="9403" r="5373" b="8952"/>
          <a:stretch>
            <a:fillRect/>
          </a:stretch>
        </p:blipFill>
        <p:spPr bwMode="auto">
          <a:xfrm>
            <a:off x="1733636" y="6334599"/>
            <a:ext cx="1096453" cy="471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88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s-ES" sz="2800" dirty="0" smtClean="0"/>
              <a:t>Reunión </a:t>
            </a:r>
            <a:r>
              <a:rPr lang="es-ES" sz="2800" dirty="0" err="1" smtClean="0"/>
              <a:t>ILAF</a:t>
            </a:r>
            <a:endParaRPr lang="es-ES" sz="280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800600"/>
            <a:ext cx="6400800" cy="1371600"/>
          </a:xfrm>
        </p:spPr>
        <p:txBody>
          <a:bodyPr/>
          <a:lstStyle/>
          <a:p>
            <a:r>
              <a:rPr lang="es-ES" sz="2000" dirty="0" err="1" smtClean="0">
                <a:cs typeface="Arial" pitchFamily="34" charset="0"/>
              </a:rPr>
              <a:t>JIIDE</a:t>
            </a:r>
            <a:r>
              <a:rPr lang="es-ES" sz="2000" dirty="0" smtClean="0">
                <a:cs typeface="Arial" pitchFamily="34" charset="0"/>
              </a:rPr>
              <a:t> 2019</a:t>
            </a:r>
          </a:p>
          <a:p>
            <a:r>
              <a:rPr lang="es-ES" sz="2000" dirty="0" smtClean="0">
                <a:cs typeface="Arial" pitchFamily="34" charset="0"/>
              </a:rPr>
              <a:t>Cáceres</a:t>
            </a:r>
          </a:p>
          <a:p>
            <a:r>
              <a:rPr lang="es-ES" sz="2000" dirty="0" smtClean="0">
                <a:cs typeface="Arial" pitchFamily="34" charset="0"/>
              </a:rPr>
              <a:t>Joan Masó</a:t>
            </a:r>
          </a:p>
          <a:p>
            <a:r>
              <a:rPr lang="es-ES" sz="2000" dirty="0" smtClean="0">
                <a:cs typeface="Arial" pitchFamily="34" charset="0"/>
              </a:rPr>
              <a:t>25 Octubre 2019</a:t>
            </a:r>
            <a:endParaRPr lang="es-ES" sz="2000" dirty="0" smtClean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2019 Open Geospatial Consortium</a:t>
            </a:r>
            <a:endParaRPr lang="en-US" dirty="0"/>
          </a:p>
        </p:txBody>
      </p:sp>
      <p:pic>
        <p:nvPicPr>
          <p:cNvPr id="3077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438400"/>
            <a:ext cx="3430588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1447800"/>
            <a:ext cx="337573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Rectángulo"/>
          <p:cNvSpPr/>
          <p:nvPr/>
        </p:nvSpPr>
        <p:spPr>
          <a:xfrm rot="4583965">
            <a:off x="7912649" y="4806834"/>
            <a:ext cx="1761397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50" b="0" dirty="0" smtClean="0">
                <a:latin typeface="+mn-lt"/>
              </a:rPr>
              <a:t>Primera reunión documentada en Murcia en 2009</a:t>
            </a:r>
            <a:endParaRPr lang="es-ES" sz="1050" b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>
                <a:cs typeface="+mj-cs"/>
              </a:rPr>
              <a:t>Agenda</a:t>
            </a:r>
            <a:endParaRPr lang="es-ES" dirty="0">
              <a:cs typeface="+mj-cs"/>
            </a:endParaRPr>
          </a:p>
        </p:txBody>
      </p:sp>
      <p:sp>
        <p:nvSpPr>
          <p:cNvPr id="16386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s-ES" dirty="0" smtClean="0"/>
              <a:t>09:00_09:10 </a:t>
            </a:r>
            <a:r>
              <a:rPr lang="es-ES" dirty="0" err="1" smtClean="0"/>
              <a:t>Introduccion</a:t>
            </a:r>
            <a:r>
              <a:rPr lang="es-ES" dirty="0" smtClean="0"/>
              <a:t> al OGC i a </a:t>
            </a:r>
            <a:r>
              <a:rPr lang="es-ES" dirty="0" err="1" smtClean="0"/>
              <a:t>ILAF</a:t>
            </a:r>
            <a:endParaRPr lang="es-ES" dirty="0" smtClean="0"/>
          </a:p>
          <a:p>
            <a:pPr lvl="1">
              <a:defRPr/>
            </a:pPr>
            <a:r>
              <a:rPr lang="es-ES" dirty="0" err="1" smtClean="0"/>
              <a:t>Athina</a:t>
            </a:r>
            <a:r>
              <a:rPr lang="es-ES" dirty="0" smtClean="0"/>
              <a:t> </a:t>
            </a:r>
            <a:r>
              <a:rPr lang="es-ES" dirty="0" err="1" smtClean="0"/>
              <a:t>Trakas</a:t>
            </a:r>
            <a:r>
              <a:rPr lang="es-ES" dirty="0" smtClean="0"/>
              <a:t> (OGC)</a:t>
            </a:r>
          </a:p>
          <a:p>
            <a:pPr>
              <a:defRPr/>
            </a:pPr>
            <a:r>
              <a:rPr lang="es-ES" dirty="0" smtClean="0"/>
              <a:t>09:10_09:20 Experiencias en la implementación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SensorThingAPI</a:t>
            </a:r>
            <a:r>
              <a:rPr lang="es-ES" dirty="0" smtClean="0"/>
              <a:t> en la monitorización de la calidad del aire</a:t>
            </a:r>
          </a:p>
          <a:p>
            <a:pPr lvl="1">
              <a:defRPr/>
            </a:pPr>
            <a:r>
              <a:rPr lang="es-ES" dirty="0" smtClean="0"/>
              <a:t>Sergio Trilles (Universidad Isabel I)</a:t>
            </a:r>
          </a:p>
          <a:p>
            <a:pPr>
              <a:defRPr/>
            </a:pPr>
            <a:r>
              <a:rPr lang="es-ES" dirty="0" smtClean="0"/>
              <a:t>09:20_09:30 Experiencias de trabajo con </a:t>
            </a:r>
            <a:r>
              <a:rPr lang="es-ES" dirty="0" err="1" smtClean="0"/>
              <a:t>Geopackage</a:t>
            </a:r>
            <a:endParaRPr lang="es-ES" dirty="0" smtClean="0"/>
          </a:p>
          <a:p>
            <a:pPr lvl="1">
              <a:defRPr/>
            </a:pPr>
            <a:r>
              <a:rPr lang="es-ES" dirty="0" smtClean="0"/>
              <a:t>Javier López Pellicer (U. de Zaragoza)</a:t>
            </a:r>
          </a:p>
          <a:p>
            <a:pPr>
              <a:defRPr/>
            </a:pPr>
            <a:r>
              <a:rPr lang="es-ES" dirty="0" smtClean="0"/>
              <a:t>09:30_09:40 Proyecto </a:t>
            </a:r>
            <a:r>
              <a:rPr lang="es-ES" dirty="0" err="1" smtClean="0"/>
              <a:t>CEF</a:t>
            </a:r>
            <a:endParaRPr lang="es-ES" dirty="0" smtClean="0"/>
          </a:p>
          <a:p>
            <a:pPr lvl="1">
              <a:defRPr/>
            </a:pPr>
            <a:r>
              <a:rPr lang="es-ES" dirty="0" smtClean="0"/>
              <a:t>Emilio López Romero (</a:t>
            </a:r>
            <a:r>
              <a:rPr lang="es-ES" dirty="0" err="1" smtClean="0"/>
              <a:t>CNIG</a:t>
            </a:r>
            <a:r>
              <a:rPr lang="es-ES" dirty="0" smtClean="0"/>
              <a:t>)</a:t>
            </a:r>
          </a:p>
          <a:p>
            <a:pPr>
              <a:defRPr/>
            </a:pPr>
            <a:r>
              <a:rPr lang="es-ES" dirty="0" smtClean="0"/>
              <a:t>09:40_09:50 Reciente aprobación de OGC API </a:t>
            </a:r>
            <a:r>
              <a:rPr lang="es-ES" dirty="0" err="1" smtClean="0"/>
              <a:t>Features</a:t>
            </a:r>
            <a:r>
              <a:rPr lang="es-ES" dirty="0" smtClean="0"/>
              <a:t> y iniciativas para mapas, teselas, </a:t>
            </a:r>
            <a:r>
              <a:rPr lang="es-ES" dirty="0" err="1" smtClean="0"/>
              <a:t>coverages</a:t>
            </a:r>
            <a:r>
              <a:rPr lang="es-ES" dirty="0" smtClean="0"/>
              <a:t>, procesos...</a:t>
            </a:r>
          </a:p>
          <a:p>
            <a:pPr lvl="1">
              <a:defRPr/>
            </a:pPr>
            <a:r>
              <a:rPr lang="es-ES" dirty="0" smtClean="0"/>
              <a:t>Joan Masó (</a:t>
            </a:r>
            <a:r>
              <a:rPr lang="es-ES" dirty="0" err="1" smtClean="0"/>
              <a:t>CREAF</a:t>
            </a:r>
            <a:r>
              <a:rPr lang="es-ES" dirty="0" smtClean="0"/>
              <a:t>)</a:t>
            </a:r>
          </a:p>
          <a:p>
            <a:pPr>
              <a:defRPr/>
            </a:pPr>
            <a:r>
              <a:rPr lang="es-ES" dirty="0" smtClean="0"/>
              <a:t>09:40_10:00 Debate</a:t>
            </a:r>
          </a:p>
          <a:p>
            <a:pPr lvl="1">
              <a:defRPr/>
            </a:pPr>
            <a:r>
              <a:rPr lang="es-ES" dirty="0" smtClean="0"/>
              <a:t>Todos</a:t>
            </a:r>
            <a:endParaRPr lang="es-ES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 2019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 err="1" smtClean="0"/>
              <a:t>Introducción</a:t>
            </a:r>
            <a:endParaRPr lang="ca-ES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smtClean="0"/>
              <a:t>Regional and </a:t>
            </a:r>
            <a:r>
              <a:rPr lang="ca-ES" dirty="0" err="1" smtClean="0"/>
              <a:t>national</a:t>
            </a:r>
            <a:r>
              <a:rPr lang="ca-ES" dirty="0" smtClean="0"/>
              <a:t> </a:t>
            </a:r>
            <a:r>
              <a:rPr lang="ca-ES" dirty="0" err="1" smtClean="0"/>
              <a:t>forums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 l="10761" r="6662"/>
          <a:stretch>
            <a:fillRect/>
          </a:stretch>
        </p:blipFill>
        <p:spPr bwMode="auto">
          <a:xfrm>
            <a:off x="457200" y="914400"/>
            <a:ext cx="8229600" cy="5442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Rectángulo"/>
          <p:cNvSpPr/>
          <p:nvPr/>
        </p:nvSpPr>
        <p:spPr bwMode="auto">
          <a:xfrm>
            <a:off x="685800" y="4724400"/>
            <a:ext cx="2286000" cy="457200"/>
          </a:xfrm>
          <a:prstGeom prst="rect">
            <a:avLst/>
          </a:prstGeom>
          <a:noFill/>
          <a:ln w="571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ca-E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pPr>
              <a:defRPr/>
            </a:pPr>
            <a:r>
              <a:rPr lang="en-US" altLang="es-ES" dirty="0" err="1" smtClean="0"/>
              <a:t>Ámbito</a:t>
            </a:r>
            <a:r>
              <a:rPr lang="en-US" altLang="es-ES" dirty="0" smtClean="0"/>
              <a:t> de </a:t>
            </a:r>
            <a:r>
              <a:rPr lang="en-US" altLang="es-ES" dirty="0" err="1" smtClean="0"/>
              <a:t>ILAF</a:t>
            </a:r>
            <a:r>
              <a:rPr lang="en-US" altLang="es-ES" dirty="0" smtClean="0"/>
              <a:t> OGC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700213"/>
            <a:ext cx="4171950" cy="4381500"/>
          </a:xfrm>
        </p:spPr>
        <p:txBody>
          <a:bodyPr lIns="0" tIns="39312" rIns="0" bIns="0"/>
          <a:lstStyle/>
          <a:p>
            <a:r>
              <a:rPr lang="en-US" altLang="es-ES" dirty="0" err="1" smtClean="0">
                <a:solidFill>
                  <a:schemeClr val="tx1"/>
                </a:solidFill>
              </a:rPr>
              <a:t>Ámbito</a:t>
            </a:r>
            <a:r>
              <a:rPr lang="en-US" altLang="es-ES" dirty="0" smtClean="0">
                <a:solidFill>
                  <a:schemeClr val="tx1"/>
                </a:solidFill>
              </a:rPr>
              <a:t> </a:t>
            </a:r>
            <a:r>
              <a:rPr lang="en-US" altLang="es-ES" dirty="0" err="1" smtClean="0">
                <a:solidFill>
                  <a:schemeClr val="tx1"/>
                </a:solidFill>
              </a:rPr>
              <a:t>geográfico</a:t>
            </a:r>
            <a:r>
              <a:rPr lang="en-US" altLang="es-ES" dirty="0" smtClean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altLang="es-ES" dirty="0" err="1" smtClean="0">
                <a:solidFill>
                  <a:schemeClr val="tx1"/>
                </a:solidFill>
              </a:rPr>
              <a:t>España</a:t>
            </a:r>
            <a:r>
              <a:rPr lang="en-US" altLang="es-ES" dirty="0" smtClean="0">
                <a:solidFill>
                  <a:schemeClr val="tx1"/>
                </a:solidFill>
              </a:rPr>
              <a:t> + Portugal + Andorra + </a:t>
            </a:r>
            <a:r>
              <a:rPr lang="en-US" altLang="es-ES" dirty="0" err="1" smtClean="0">
                <a:solidFill>
                  <a:schemeClr val="tx1"/>
                </a:solidFill>
              </a:rPr>
              <a:t>Latinoamérica</a:t>
            </a:r>
            <a:endParaRPr lang="en-US" altLang="es-ES" dirty="0" smtClean="0">
              <a:solidFill>
                <a:schemeClr val="tx1"/>
              </a:solidFill>
            </a:endParaRPr>
          </a:p>
          <a:p>
            <a:pPr lvl="1">
              <a:buFontTx/>
              <a:buNone/>
            </a:pPr>
            <a:endParaRPr lang="en-US" altLang="es-ES" dirty="0" smtClean="0">
              <a:solidFill>
                <a:schemeClr val="tx1"/>
              </a:solidFill>
            </a:endParaRPr>
          </a:p>
          <a:p>
            <a:r>
              <a:rPr lang="es-ES" altLang="es-ES" dirty="0" smtClean="0">
                <a:solidFill>
                  <a:schemeClr val="tx1"/>
                </a:solidFill>
              </a:rPr>
              <a:t>Coordinadores:</a:t>
            </a:r>
          </a:p>
          <a:p>
            <a:pPr lvl="1"/>
            <a:r>
              <a:rPr lang="es-ES" altLang="es-ES" dirty="0" smtClean="0">
                <a:solidFill>
                  <a:schemeClr val="tx1"/>
                </a:solidFill>
              </a:rPr>
              <a:t>Joan Masó (</a:t>
            </a:r>
            <a:r>
              <a:rPr lang="es-ES" altLang="es-ES" dirty="0" err="1" smtClean="0">
                <a:solidFill>
                  <a:schemeClr val="tx1"/>
                </a:solidFill>
              </a:rPr>
              <a:t>CREAF</a:t>
            </a:r>
            <a:r>
              <a:rPr lang="es-ES" altLang="es-ES" dirty="0" smtClean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s-ES" altLang="es-ES" dirty="0" smtClean="0">
                <a:solidFill>
                  <a:schemeClr val="tx1"/>
                </a:solidFill>
              </a:rPr>
              <a:t>Guadalupe Cano (</a:t>
            </a:r>
            <a:r>
              <a:rPr lang="es-ES" altLang="es-ES" dirty="0" err="1" smtClean="0">
                <a:solidFill>
                  <a:schemeClr val="tx1"/>
                </a:solidFill>
              </a:rPr>
              <a:t>IGN-CNIG</a:t>
            </a:r>
            <a:r>
              <a:rPr lang="es-ES" altLang="es-ES" dirty="0" smtClean="0">
                <a:solidFill>
                  <a:schemeClr val="tx1"/>
                </a:solidFill>
              </a:rPr>
              <a:t>) </a:t>
            </a:r>
          </a:p>
          <a:p>
            <a:pPr lvl="1"/>
            <a:endParaRPr lang="es-ES" altLang="es-ES" dirty="0" smtClean="0">
              <a:solidFill>
                <a:schemeClr val="tx1"/>
              </a:solidFill>
            </a:endParaRPr>
          </a:p>
          <a:p>
            <a:r>
              <a:rPr lang="es-ES" altLang="es-ES" dirty="0" smtClean="0">
                <a:solidFill>
                  <a:schemeClr val="tx1"/>
                </a:solidFill>
              </a:rPr>
              <a:t>Socios OGC (22)</a:t>
            </a:r>
          </a:p>
          <a:p>
            <a:endParaRPr lang="en-US" altLang="es-ES" dirty="0" smtClean="0"/>
          </a:p>
          <a:p>
            <a:pPr>
              <a:buFontTx/>
              <a:buNone/>
            </a:pPr>
            <a:endParaRPr lang="en-US" altLang="es-ES" dirty="0" smtClean="0"/>
          </a:p>
        </p:txBody>
      </p:sp>
      <p:pic>
        <p:nvPicPr>
          <p:cNvPr id="512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420938"/>
            <a:ext cx="4210050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ES" dirty="0" smtClean="0">
                <a:effectLst/>
              </a:rPr>
              <a:t>¿Qué se pretende?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458200" cy="518160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s-ES" altLang="es-ES" b="1" dirty="0" smtClean="0"/>
              <a:t>Hacia OGC</a:t>
            </a:r>
            <a:endParaRPr lang="es-ES" altLang="es-ES" dirty="0" smtClean="0"/>
          </a:p>
          <a:p>
            <a:pPr>
              <a:defRPr/>
            </a:pPr>
            <a:r>
              <a:rPr lang="es-ES" altLang="es-ES" sz="2000" dirty="0" smtClean="0"/>
              <a:t>Ser un mecanismo de coordinación y comunicación con OGC sobre requerimientos de interoperabilidad y para la participación en los procesos de estandarización.</a:t>
            </a:r>
          </a:p>
          <a:p>
            <a:pPr>
              <a:defRPr/>
            </a:pPr>
            <a:r>
              <a:rPr lang="es-ES" altLang="es-ES" sz="2000" dirty="0" smtClean="0"/>
              <a:t>Ser un medio para que OGC conozca y canalice las necesidades de interlocución y formativas en la comunidad ILAF.</a:t>
            </a:r>
          </a:p>
          <a:p>
            <a:pPr>
              <a:defRPr/>
            </a:pPr>
            <a:r>
              <a:rPr lang="es-ES" altLang="es-ES" sz="2000" dirty="0" smtClean="0"/>
              <a:t>Actuar como interlocutor ante el Foro Europeo de OGC.</a:t>
            </a:r>
          </a:p>
          <a:p>
            <a:pPr>
              <a:defRPr/>
            </a:pPr>
            <a:endParaRPr lang="es-ES" altLang="es-ES" sz="2000" dirty="0" smtClean="0"/>
          </a:p>
          <a:p>
            <a:pPr marL="0" lvl="1" indent="0" algn="ctr">
              <a:buFontTx/>
              <a:buNone/>
              <a:defRPr/>
            </a:pPr>
            <a:r>
              <a:rPr lang="es-ES" altLang="es-ES" sz="2400" b="1" dirty="0">
                <a:cs typeface="+mn-cs"/>
              </a:rPr>
              <a:t>Hacia la comunidad ILAF</a:t>
            </a:r>
          </a:p>
          <a:p>
            <a:pPr>
              <a:defRPr/>
            </a:pPr>
            <a:r>
              <a:rPr lang="es-ES" altLang="es-ES" sz="2000" dirty="0" smtClean="0"/>
              <a:t>Comunicar a los miembros de la comunidad ILAF de las todas las novedades de OGC</a:t>
            </a:r>
          </a:p>
          <a:p>
            <a:pPr>
              <a:defRPr/>
            </a:pPr>
            <a:r>
              <a:rPr lang="es-ES" altLang="es-ES" sz="2000" dirty="0" smtClean="0"/>
              <a:t>Estimular la participación de la comunidad ILAF y comunicárselo a OGC</a:t>
            </a:r>
          </a:p>
          <a:p>
            <a:pPr>
              <a:defRPr/>
            </a:pPr>
            <a:endParaRPr lang="es-ES" altLang="es-ES" sz="2000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Pasado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4 días de la interoperabilidad</a:t>
            </a:r>
          </a:p>
          <a:p>
            <a:pPr lvl="1"/>
            <a:r>
              <a:rPr lang="ca-ES" dirty="0" smtClean="0"/>
              <a:t>Barcelona 2015</a:t>
            </a:r>
            <a:endParaRPr lang="es-ES" dirty="0" smtClean="0"/>
          </a:p>
          <a:p>
            <a:pPr lvl="1"/>
            <a:r>
              <a:rPr lang="es-ES" dirty="0" smtClean="0"/>
              <a:t>Lisboa 2014 </a:t>
            </a:r>
          </a:p>
          <a:p>
            <a:pPr lvl="1"/>
            <a:r>
              <a:rPr lang="es-ES" dirty="0" smtClean="0"/>
              <a:t>Madrid 2012</a:t>
            </a:r>
          </a:p>
          <a:p>
            <a:pPr lvl="1"/>
            <a:r>
              <a:rPr lang="es-ES" dirty="0" smtClean="0"/>
              <a:t>Barcelona 2011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505200" y="1204912"/>
            <a:ext cx="5299075" cy="5272088"/>
          </a:xfrm>
        </p:spPr>
        <p:txBody>
          <a:bodyPr>
            <a:normAutofit fontScale="92500" lnSpcReduction="10000"/>
          </a:bodyPr>
          <a:lstStyle/>
          <a:p>
            <a:pPr rtl="0" eaLnBrk="0" fontAlgn="base" hangingPunct="0"/>
            <a:r>
              <a:rPr lang="es-ES" sz="28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12 reuniones del </a:t>
            </a:r>
            <a:r>
              <a:rPr lang="es-ES" sz="28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ILAF</a:t>
            </a:r>
            <a:endParaRPr lang="es-ES" sz="28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  <a:p>
            <a:pPr lvl="1"/>
            <a:r>
              <a:rPr lang="ca-ES" dirty="0" smtClean="0"/>
              <a:t>Caceres 2019 </a:t>
            </a:r>
            <a:r>
              <a:rPr lang="es-ES" dirty="0" smtClean="0"/>
              <a:t>(</a:t>
            </a:r>
            <a:r>
              <a:rPr lang="es-ES" dirty="0" err="1" smtClean="0"/>
              <a:t>JIIDE</a:t>
            </a:r>
            <a:r>
              <a:rPr lang="es-ES" dirty="0" smtClean="0"/>
              <a:t>)</a:t>
            </a:r>
            <a:endParaRPr lang="ca-ES" dirty="0" smtClean="0"/>
          </a:p>
          <a:p>
            <a:pPr lvl="1"/>
            <a:r>
              <a:rPr lang="ca-ES" dirty="0" smtClean="0"/>
              <a:t>Menorca 2018 </a:t>
            </a:r>
            <a:r>
              <a:rPr lang="es-ES" dirty="0" smtClean="0"/>
              <a:t>(</a:t>
            </a:r>
            <a:r>
              <a:rPr lang="es-ES" dirty="0" err="1" smtClean="0"/>
              <a:t>JIIDE</a:t>
            </a:r>
            <a:r>
              <a:rPr lang="es-ES" dirty="0" smtClean="0"/>
              <a:t>)</a:t>
            </a:r>
            <a:endParaRPr lang="ca-ES" dirty="0" smtClean="0"/>
          </a:p>
          <a:p>
            <a:pPr lvl="1"/>
            <a:r>
              <a:rPr lang="ca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Lisboa 2017 </a:t>
            </a:r>
            <a:r>
              <a:rPr lang="es-ES" dirty="0" smtClean="0"/>
              <a:t>(</a:t>
            </a:r>
            <a:r>
              <a:rPr lang="es-ES" dirty="0" err="1" smtClean="0"/>
              <a:t>JIIDE</a:t>
            </a:r>
            <a:r>
              <a:rPr lang="es-ES" dirty="0" smtClean="0"/>
              <a:t>)</a:t>
            </a:r>
            <a:endParaRPr lang="ca-ES" dirty="0" smtClean="0"/>
          </a:p>
          <a:p>
            <a:pPr lvl="1" rtl="0" eaLnBrk="0" fontAlgn="base" hangingPunct="0"/>
            <a:r>
              <a:rPr lang="ca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2016 (</a:t>
            </a:r>
            <a:r>
              <a:rPr lang="ca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JIIDE-INSPIRE</a:t>
            </a:r>
            <a:r>
              <a:rPr lang="ca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Lisboa 2014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Toledo 2013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Madrid 2012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2011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2011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GlobalGEO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Lisboa 2010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JIIDE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Barcelona 2010 (FOSS4G)</a:t>
            </a:r>
            <a:endParaRPr lang="ca-ES" dirty="0" smtClean="0"/>
          </a:p>
          <a:p>
            <a:pPr lvl="1" rtl="0" eaLnBrk="0" fontAlgn="base" hangingPunct="0"/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Murcia 2009 (</a:t>
            </a:r>
            <a:r>
              <a:rPr lang="es-ES" sz="2400" dirty="0" err="1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JIDEE</a:t>
            </a:r>
            <a:r>
              <a:rPr lang="es-ES" sz="2400" dirty="0" smtClean="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rPr>
              <a:t>)</a:t>
            </a:r>
            <a:endParaRPr lang="ca-ES" sz="24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/>
              <a:t>¿Qué tenemos?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97592"/>
            <a:ext cx="8440738" cy="5029200"/>
          </a:xfrm>
        </p:spPr>
        <p:txBody>
          <a:bodyPr/>
          <a:lstStyle/>
          <a:p>
            <a:pPr>
              <a:buFont typeface="Times New Roman" pitchFamily="18" charset="0"/>
              <a:buChar char="•"/>
            </a:pPr>
            <a:r>
              <a:rPr lang="es-ES" altLang="es-ES" sz="2000" dirty="0" smtClean="0"/>
              <a:t>Lista de correo: </a:t>
            </a:r>
          </a:p>
          <a:p>
            <a:pPr>
              <a:buFont typeface="Times New Roman" pitchFamily="18" charset="0"/>
              <a:buNone/>
            </a:pPr>
            <a:r>
              <a:rPr lang="es-ES" altLang="es-ES" sz="2000" dirty="0" smtClean="0"/>
              <a:t>		</a:t>
            </a:r>
            <a:r>
              <a:rPr lang="es-ES" altLang="es-ES" sz="1800" dirty="0" smtClean="0"/>
              <a:t>ilaf.forum@lists.opengeospatial.org 	https://lists.opengeospatial.org/mailman/listinfo/ila.forum </a:t>
            </a:r>
          </a:p>
        </p:txBody>
      </p:sp>
      <p:sp>
        <p:nvSpPr>
          <p:cNvPr id="7173" name="4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6896100" y="6553200"/>
            <a:ext cx="1905000" cy="228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s-ES" sz="900" smtClean="0">
                <a:solidFill>
                  <a:srgbClr val="092E5C"/>
                </a:solidFill>
              </a:rPr>
              <a:t>Copyright © 2019 Open Geospatial Consortium</a:t>
            </a:r>
            <a:endParaRPr lang="es-ES" altLang="es-ES" sz="900" smtClean="0">
              <a:solidFill>
                <a:srgbClr val="092E5C"/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438400"/>
            <a:ext cx="3380857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3276600"/>
            <a:ext cx="3942522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2800" y="2590800"/>
            <a:ext cx="1752600" cy="3270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¡Participad en el OGC!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¿Cual es el mejor modo de participar?</a:t>
            </a:r>
          </a:p>
          <a:p>
            <a:pPr lvl="1"/>
            <a:r>
              <a:rPr lang="es-ES" dirty="0" smtClean="0"/>
              <a:t>Asistir a la reunión de orientación de los nuevos miembros para saber como va todo.</a:t>
            </a:r>
          </a:p>
          <a:p>
            <a:pPr lvl="1"/>
            <a:r>
              <a:rPr lang="es-ES" dirty="0" smtClean="0"/>
              <a:t>Asistir a las reuniones de los grupos de trabajo de domino para descubrir las distintas problemáticas sobre las que se está trabajando.</a:t>
            </a:r>
          </a:p>
          <a:p>
            <a:pPr lvl="1"/>
            <a:r>
              <a:rPr lang="es-ES" dirty="0" smtClean="0"/>
              <a:t>Darse de alta como observador de los grupos de trabajo de estándares y asistir a alguna de sus reuniones para ver como funcionan internamente.</a:t>
            </a:r>
          </a:p>
          <a:p>
            <a:pPr lvl="1"/>
            <a:r>
              <a:rPr lang="es-ES" dirty="0" smtClean="0"/>
              <a:t>Participar en alguna teleconferencia previa para estar más orientado</a:t>
            </a:r>
          </a:p>
          <a:p>
            <a:pPr lvl="1"/>
            <a:r>
              <a:rPr lang="es-ES" dirty="0" smtClean="0"/>
              <a:t>Descargar los documentos de “</a:t>
            </a:r>
            <a:r>
              <a:rPr lang="es-ES" dirty="0" err="1" smtClean="0"/>
              <a:t>pending</a:t>
            </a:r>
            <a:r>
              <a:rPr lang="es-ES" dirty="0" smtClean="0"/>
              <a:t> </a:t>
            </a:r>
            <a:r>
              <a:rPr lang="es-ES" dirty="0" err="1" smtClean="0"/>
              <a:t>documents</a:t>
            </a:r>
            <a:r>
              <a:rPr lang="es-ES" dirty="0" smtClean="0"/>
              <a:t>” antes de asistir al evento para estar al día.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2019 Open Geospatial Consortium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5246</TotalTime>
  <Words>488</Words>
  <Application>Microsoft Office PowerPoint</Application>
  <PresentationFormat>Presentación en pantalla (4:3)</PresentationFormat>
  <Paragraphs>87</Paragraphs>
  <Slides>9</Slides>
  <Notes>3</Notes>
  <HiddenSlides>3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OGC_PowerPoint_Template</vt:lpstr>
      <vt:lpstr>Reunión ILAF</vt:lpstr>
      <vt:lpstr>Agenda</vt:lpstr>
      <vt:lpstr>Introducción</vt:lpstr>
      <vt:lpstr>Regional and national forums</vt:lpstr>
      <vt:lpstr>Ámbito de ILAF OGC</vt:lpstr>
      <vt:lpstr>¿Qué se pretende?</vt:lpstr>
      <vt:lpstr>Pasado</vt:lpstr>
      <vt:lpstr>¿Qué tenemos?</vt:lpstr>
      <vt:lpstr>¡Participad en el OGC!</vt:lpstr>
    </vt:vector>
  </TitlesOfParts>
  <Company>OGC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Carl Reed</dc:creator>
  <cp:lastModifiedBy>Joan Maso</cp:lastModifiedBy>
  <cp:revision>94</cp:revision>
  <cp:lastPrinted>2003-02-03T21:59:32Z</cp:lastPrinted>
  <dcterms:created xsi:type="dcterms:W3CDTF">2009-10-20T16:54:31Z</dcterms:created>
  <dcterms:modified xsi:type="dcterms:W3CDTF">2019-10-24T17:48:27Z</dcterms:modified>
</cp:coreProperties>
</file>